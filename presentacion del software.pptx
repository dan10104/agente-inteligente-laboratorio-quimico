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rial Bold" panose="020B0704020202020204" pitchFamily="34" charset="0"/>
      <p:bold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260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108204"/>
            <a:chOff x="0" y="0"/>
            <a:chExt cx="24409400" cy="14427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44272"/>
            </a:xfrm>
            <a:custGeom>
              <a:avLst/>
              <a:gdLst/>
              <a:ahLst/>
              <a:cxnLst/>
              <a:rect l="l" t="t" r="r" b="b"/>
              <a:pathLst>
                <a:path w="24409400" h="144272">
                  <a:moveTo>
                    <a:pt x="0" y="0"/>
                  </a:moveTo>
                  <a:lnTo>
                    <a:pt x="24409400" y="0"/>
                  </a:lnTo>
                  <a:lnTo>
                    <a:pt x="24409400" y="144272"/>
                  </a:lnTo>
                  <a:lnTo>
                    <a:pt x="0" y="144272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AutoShape 4"/>
          <p:cNvSpPr/>
          <p:nvPr/>
        </p:nvSpPr>
        <p:spPr>
          <a:xfrm rot="5398020">
            <a:off x="6683978" y="5241608"/>
            <a:ext cx="88519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rot="5398020">
            <a:off x="7438358" y="5241608"/>
            <a:ext cx="88519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rot="5398020">
            <a:off x="8192738" y="5241608"/>
            <a:ext cx="88519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rot="5398020">
            <a:off x="8947118" y="5241608"/>
            <a:ext cx="88519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rot="5398020">
            <a:off x="9701498" y="5241608"/>
            <a:ext cx="88519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 rot="5398020">
            <a:off x="10455878" y="5241608"/>
            <a:ext cx="88519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rot="5398020">
            <a:off x="11210258" y="5241608"/>
            <a:ext cx="88519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rot="5398020">
            <a:off x="11964638" y="5241608"/>
            <a:ext cx="88519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 rot="5398020">
            <a:off x="12719018" y="5241608"/>
            <a:ext cx="88519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 rot="2460">
            <a:off x="10764488" y="955357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rot="2460">
            <a:off x="10764488" y="1696022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 rot="2460">
            <a:off x="10764488" y="2436686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 rot="2460">
            <a:off x="10764488" y="3177350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rot="2460">
            <a:off x="10764488" y="3918014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 rot="2460">
            <a:off x="10764488" y="4658678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 rot="2460">
            <a:off x="10764488" y="5399342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 rot="2460">
            <a:off x="10764488" y="6140006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 rot="2460">
            <a:off x="10764488" y="6880670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 rot="2460">
            <a:off x="10764488" y="7621334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 rot="2460">
            <a:off x="10764488" y="8361997"/>
            <a:ext cx="7137464" cy="0"/>
          </a:xfrm>
          <a:prstGeom prst="line">
            <a:avLst/>
          </a:prstGeom>
          <a:ln w="9525" cap="rnd">
            <a:solidFill>
              <a:srgbClr val="24516B">
                <a:alpha val="34902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758571" y="799719"/>
            <a:ext cx="4024122" cy="567690"/>
            <a:chOff x="0" y="0"/>
            <a:chExt cx="5365496" cy="7569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65496" cy="756920"/>
            </a:xfrm>
            <a:custGeom>
              <a:avLst/>
              <a:gdLst/>
              <a:ahLst/>
              <a:cxnLst/>
              <a:rect l="l" t="t" r="r" b="b"/>
              <a:pathLst>
                <a:path w="5365496" h="756920">
                  <a:moveTo>
                    <a:pt x="0" y="378460"/>
                  </a:moveTo>
                  <a:cubicBezTo>
                    <a:pt x="0" y="169418"/>
                    <a:pt x="169418" y="0"/>
                    <a:pt x="378460" y="0"/>
                  </a:cubicBezTo>
                  <a:lnTo>
                    <a:pt x="4987036" y="0"/>
                  </a:lnTo>
                  <a:cubicBezTo>
                    <a:pt x="5196078" y="0"/>
                    <a:pt x="5365496" y="169418"/>
                    <a:pt x="5365496" y="378460"/>
                  </a:cubicBezTo>
                  <a:cubicBezTo>
                    <a:pt x="5365496" y="587502"/>
                    <a:pt x="5196078" y="756920"/>
                    <a:pt x="4987036" y="756920"/>
                  </a:cubicBezTo>
                  <a:lnTo>
                    <a:pt x="378460" y="756920"/>
                  </a:lnTo>
                  <a:cubicBezTo>
                    <a:pt x="169418" y="756920"/>
                    <a:pt x="0" y="587502"/>
                    <a:pt x="0" y="378460"/>
                  </a:cubicBezTo>
                  <a:close/>
                </a:path>
              </a:pathLst>
            </a:custGeom>
            <a:solidFill>
              <a:srgbClr val="123B4A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1268" y="918972"/>
            <a:ext cx="3607308" cy="260604"/>
            <a:chOff x="0" y="0"/>
            <a:chExt cx="4809744" cy="3474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09744" cy="347472"/>
            </a:xfrm>
            <a:custGeom>
              <a:avLst/>
              <a:gdLst/>
              <a:ahLst/>
              <a:cxnLst/>
              <a:rect l="l" t="t" r="r" b="b"/>
              <a:pathLst>
                <a:path w="4809744" h="347472">
                  <a:moveTo>
                    <a:pt x="0" y="0"/>
                  </a:moveTo>
                  <a:lnTo>
                    <a:pt x="4809744" y="0"/>
                  </a:lnTo>
                  <a:lnTo>
                    <a:pt x="4809744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9713" b="-21971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4809744" cy="3665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PROYECTO DE INTELIGENCIA ARTIFICIAL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1139" y="2226183"/>
            <a:ext cx="121920" cy="4161282"/>
            <a:chOff x="0" y="0"/>
            <a:chExt cx="162560" cy="55483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2560" cy="5548376"/>
            </a:xfrm>
            <a:custGeom>
              <a:avLst/>
              <a:gdLst/>
              <a:ahLst/>
              <a:cxnLst/>
              <a:rect l="l" t="t" r="r" b="b"/>
              <a:pathLst>
                <a:path w="162560" h="5548376">
                  <a:moveTo>
                    <a:pt x="0" y="0"/>
                  </a:moveTo>
                  <a:lnTo>
                    <a:pt x="162560" y="0"/>
                  </a:lnTo>
                  <a:lnTo>
                    <a:pt x="162560" y="5548376"/>
                  </a:lnTo>
                  <a:lnTo>
                    <a:pt x="0" y="5548376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52144" y="2235708"/>
            <a:ext cx="10190988" cy="918972"/>
            <a:chOff x="0" y="0"/>
            <a:chExt cx="13587984" cy="12252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587985" cy="1225296"/>
            </a:xfrm>
            <a:custGeom>
              <a:avLst/>
              <a:gdLst/>
              <a:ahLst/>
              <a:cxnLst/>
              <a:rect l="l" t="t" r="r" b="b"/>
              <a:pathLst>
                <a:path w="13587985" h="1225296">
                  <a:moveTo>
                    <a:pt x="0" y="0"/>
                  </a:moveTo>
                  <a:lnTo>
                    <a:pt x="13587985" y="0"/>
                  </a:lnTo>
                  <a:lnTo>
                    <a:pt x="13587985" y="1225296"/>
                  </a:lnTo>
                  <a:lnTo>
                    <a:pt x="0" y="1225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6080" b="-1660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13587984" cy="12538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533"/>
                </a:lnSpc>
              </a:pPr>
              <a:r>
                <a:rPr lang="en-US" sz="544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AGENTE INTELIGENTE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52144" y="3236976"/>
            <a:ext cx="9395460" cy="918972"/>
            <a:chOff x="0" y="0"/>
            <a:chExt cx="12527280" cy="122529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527280" cy="1225296"/>
            </a:xfrm>
            <a:custGeom>
              <a:avLst/>
              <a:gdLst/>
              <a:ahLst/>
              <a:cxnLst/>
              <a:rect l="l" t="t" r="r" b="b"/>
              <a:pathLst>
                <a:path w="12527280" h="1225296">
                  <a:moveTo>
                    <a:pt x="0" y="0"/>
                  </a:moveTo>
                  <a:lnTo>
                    <a:pt x="12527280" y="0"/>
                  </a:lnTo>
                  <a:lnTo>
                    <a:pt x="12527280" y="1225296"/>
                  </a:lnTo>
                  <a:lnTo>
                    <a:pt x="0" y="12252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9212" b="-1492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12527280" cy="12538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533"/>
                </a:lnSpc>
              </a:pPr>
              <a:r>
                <a:rPr lang="en-US" sz="544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 LABORATORIO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52144" y="4224528"/>
            <a:ext cx="9107424" cy="1001268"/>
            <a:chOff x="0" y="0"/>
            <a:chExt cx="12143232" cy="133502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2143232" cy="1335024"/>
            </a:xfrm>
            <a:custGeom>
              <a:avLst/>
              <a:gdLst/>
              <a:ahLst/>
              <a:cxnLst/>
              <a:rect l="l" t="t" r="r" b="b"/>
              <a:pathLst>
                <a:path w="12143232" h="1335024">
                  <a:moveTo>
                    <a:pt x="0" y="0"/>
                  </a:moveTo>
                  <a:lnTo>
                    <a:pt x="12143232" y="0"/>
                  </a:lnTo>
                  <a:lnTo>
                    <a:pt x="12143232" y="1335024"/>
                  </a:lnTo>
                  <a:lnTo>
                    <a:pt x="0" y="13350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7233" b="-12723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2143232" cy="13540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559"/>
                </a:lnSpc>
              </a:pPr>
              <a:r>
                <a:rPr lang="en-US" sz="630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QUÍMICO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93292" y="5788152"/>
            <a:ext cx="9272016" cy="1316736"/>
            <a:chOff x="0" y="0"/>
            <a:chExt cx="12362688" cy="175564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362688" cy="1755648"/>
            </a:xfrm>
            <a:custGeom>
              <a:avLst/>
              <a:gdLst/>
              <a:ahLst/>
              <a:cxnLst/>
              <a:rect l="l" t="t" r="r" b="b"/>
              <a:pathLst>
                <a:path w="12362688" h="1755648">
                  <a:moveTo>
                    <a:pt x="0" y="0"/>
                  </a:moveTo>
                  <a:lnTo>
                    <a:pt x="12362688" y="0"/>
                  </a:lnTo>
                  <a:lnTo>
                    <a:pt x="1236268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7207" b="-8720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12362688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Reconocimiento de formas y materiales</a:t>
              </a:r>
            </a:p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mediante Inteligencia Artificial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 rot="9420">
            <a:off x="1181843" y="7648766"/>
            <a:ext cx="8321069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4" name="Group 44"/>
          <p:cNvGrpSpPr/>
          <p:nvPr/>
        </p:nvGrpSpPr>
        <p:grpSpPr>
          <a:xfrm>
            <a:off x="1207008" y="7996428"/>
            <a:ext cx="9052560" cy="480060"/>
            <a:chOff x="0" y="0"/>
            <a:chExt cx="12070080" cy="6400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070080" cy="640080"/>
            </a:xfrm>
            <a:custGeom>
              <a:avLst/>
              <a:gdLst/>
              <a:ahLst/>
              <a:cxnLst/>
              <a:rect l="l" t="t" r="r" b="b"/>
              <a:pathLst>
                <a:path w="12070080" h="640080">
                  <a:moveTo>
                    <a:pt x="0" y="0"/>
                  </a:moveTo>
                  <a:lnTo>
                    <a:pt x="12070080" y="0"/>
                  </a:lnTo>
                  <a:lnTo>
                    <a:pt x="120700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7432" b="-31743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207008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Coco Daniel Vega Barriga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07008" y="8503920"/>
            <a:ext cx="8915400" cy="480060"/>
            <a:chOff x="0" y="0"/>
            <a:chExt cx="11887200" cy="64008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887200" cy="640080"/>
            </a:xfrm>
            <a:custGeom>
              <a:avLst/>
              <a:gdLst/>
              <a:ahLst/>
              <a:cxnLst/>
              <a:rect l="l" t="t" r="r" b="b"/>
              <a:pathLst>
                <a:path w="11887200" h="640080">
                  <a:moveTo>
                    <a:pt x="0" y="0"/>
                  </a:moveTo>
                  <a:lnTo>
                    <a:pt x="11887200" y="0"/>
                  </a:lnTo>
                  <a:lnTo>
                    <a:pt x="11887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864" b="-31186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1887200" cy="649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9CB9CB"/>
                  </a:solidFill>
                  <a:latin typeface="Arial"/>
                  <a:ea typeface="Arial"/>
                  <a:cs typeface="Arial"/>
                  <a:sym typeface="Arial"/>
                </a:rPr>
                <a:t>Ingeniería en Inteligencia Artificial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732639" y="2130171"/>
            <a:ext cx="5025390" cy="5025390"/>
            <a:chOff x="0" y="0"/>
            <a:chExt cx="6700520" cy="670052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700520" cy="6700520"/>
            </a:xfrm>
            <a:custGeom>
              <a:avLst/>
              <a:gdLst/>
              <a:ahLst/>
              <a:cxnLst/>
              <a:rect l="l" t="t" r="r" b="b"/>
              <a:pathLst>
                <a:path w="6700520" h="6700520">
                  <a:moveTo>
                    <a:pt x="0" y="3350260"/>
                  </a:moveTo>
                  <a:cubicBezTo>
                    <a:pt x="0" y="1499997"/>
                    <a:pt x="1499997" y="0"/>
                    <a:pt x="3350260" y="0"/>
                  </a:cubicBezTo>
                  <a:cubicBezTo>
                    <a:pt x="5200523" y="0"/>
                    <a:pt x="6700520" y="1499997"/>
                    <a:pt x="6700520" y="3350260"/>
                  </a:cubicBezTo>
                  <a:cubicBezTo>
                    <a:pt x="6700520" y="5200523"/>
                    <a:pt x="5200523" y="6700520"/>
                    <a:pt x="3350260" y="6700520"/>
                  </a:cubicBezTo>
                  <a:cubicBezTo>
                    <a:pt x="1499997" y="6700520"/>
                    <a:pt x="0" y="5200523"/>
                    <a:pt x="0" y="3350260"/>
                  </a:cubicBezTo>
                  <a:close/>
                </a:path>
              </a:pathLst>
            </a:custGeom>
            <a:solidFill>
              <a:srgbClr val="0E2B4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276516" y="2660333"/>
            <a:ext cx="3910203" cy="3910203"/>
            <a:chOff x="0" y="0"/>
            <a:chExt cx="5213604" cy="521360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213604" cy="5213604"/>
            </a:xfrm>
            <a:custGeom>
              <a:avLst/>
              <a:gdLst/>
              <a:ahLst/>
              <a:cxnLst/>
              <a:rect l="l" t="t" r="r" b="b"/>
              <a:pathLst>
                <a:path w="5213604" h="5213604">
                  <a:moveTo>
                    <a:pt x="0" y="2606802"/>
                  </a:moveTo>
                  <a:cubicBezTo>
                    <a:pt x="0" y="1167130"/>
                    <a:pt x="1167130" y="0"/>
                    <a:pt x="2606802" y="0"/>
                  </a:cubicBezTo>
                  <a:cubicBezTo>
                    <a:pt x="4046474" y="0"/>
                    <a:pt x="5213604" y="1167130"/>
                    <a:pt x="5213604" y="2606802"/>
                  </a:cubicBezTo>
                  <a:cubicBezTo>
                    <a:pt x="5213604" y="4046474"/>
                    <a:pt x="4046474" y="5213604"/>
                    <a:pt x="2606802" y="5213604"/>
                  </a:cubicBezTo>
                  <a:cubicBezTo>
                    <a:pt x="1167130" y="5213604"/>
                    <a:pt x="0" y="4046474"/>
                    <a:pt x="0" y="2606802"/>
                  </a:cubicBezTo>
                  <a:close/>
                </a:path>
              </a:pathLst>
            </a:custGeom>
            <a:solidFill>
              <a:srgbClr val="0B2238"/>
            </a:solidFill>
            <a:ln w="28575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4" name="AutoShape 54"/>
          <p:cNvSpPr/>
          <p:nvPr/>
        </p:nvSpPr>
        <p:spPr>
          <a:xfrm rot="5184600">
            <a:off x="14396799" y="3842004"/>
            <a:ext cx="1217019" cy="0"/>
          </a:xfrm>
          <a:prstGeom prst="line">
            <a:avLst/>
          </a:prstGeom>
          <a:ln w="38100" cap="rnd">
            <a:solidFill>
              <a:srgbClr val="35E3D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" name="AutoShape 55"/>
          <p:cNvSpPr/>
          <p:nvPr/>
        </p:nvSpPr>
        <p:spPr>
          <a:xfrm rot="5184600">
            <a:off x="14890575" y="3842004"/>
            <a:ext cx="1217019" cy="0"/>
          </a:xfrm>
          <a:prstGeom prst="line">
            <a:avLst/>
          </a:prstGeom>
          <a:ln w="38100" cap="rnd">
            <a:solidFill>
              <a:srgbClr val="35E3D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" name="AutoShape 56"/>
          <p:cNvSpPr/>
          <p:nvPr/>
        </p:nvSpPr>
        <p:spPr>
          <a:xfrm rot="213000">
            <a:off x="14783819" y="3236404"/>
            <a:ext cx="923030" cy="0"/>
          </a:xfrm>
          <a:prstGeom prst="line">
            <a:avLst/>
          </a:prstGeom>
          <a:ln w="28575" cap="rnd">
            <a:solidFill>
              <a:srgbClr val="35E3D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" name="AutoShape 57"/>
          <p:cNvSpPr/>
          <p:nvPr/>
        </p:nvSpPr>
        <p:spPr>
          <a:xfrm rot="3602280">
            <a:off x="14917560" y="5328094"/>
            <a:ext cx="2205466" cy="0"/>
          </a:xfrm>
          <a:prstGeom prst="line">
            <a:avLst/>
          </a:prstGeom>
          <a:ln w="28575" cap="rnd">
            <a:solidFill>
              <a:srgbClr val="35E3D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8" name="AutoShape 58"/>
          <p:cNvSpPr/>
          <p:nvPr/>
        </p:nvSpPr>
        <p:spPr>
          <a:xfrm rot="76560">
            <a:off x="13919311" y="6253925"/>
            <a:ext cx="2652036" cy="0"/>
          </a:xfrm>
          <a:prstGeom prst="line">
            <a:avLst/>
          </a:prstGeom>
          <a:ln w="28575" cap="rnd">
            <a:solidFill>
              <a:srgbClr val="35E3D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9" name="AutoShape 59"/>
          <p:cNvSpPr/>
          <p:nvPr/>
        </p:nvSpPr>
        <p:spPr>
          <a:xfrm rot="93540">
            <a:off x="14250362" y="5554408"/>
            <a:ext cx="2031101" cy="0"/>
          </a:xfrm>
          <a:prstGeom prst="line">
            <a:avLst/>
          </a:prstGeom>
          <a:ln w="28575" cap="rnd">
            <a:solidFill>
              <a:srgbClr val="4BA4E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0" name="Group 60"/>
          <p:cNvGrpSpPr/>
          <p:nvPr/>
        </p:nvGrpSpPr>
        <p:grpSpPr>
          <a:xfrm>
            <a:off x="14735175" y="5161407"/>
            <a:ext cx="252222" cy="252222"/>
            <a:chOff x="0" y="0"/>
            <a:chExt cx="336296" cy="33629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36296" cy="336296"/>
            </a:xfrm>
            <a:custGeom>
              <a:avLst/>
              <a:gdLst/>
              <a:ahLst/>
              <a:cxnLst/>
              <a:rect l="l" t="t" r="r" b="b"/>
              <a:pathLst>
                <a:path w="336296" h="336296">
                  <a:moveTo>
                    <a:pt x="0" y="168148"/>
                  </a:moveTo>
                  <a:cubicBezTo>
                    <a:pt x="0" y="75311"/>
                    <a:pt x="75311" y="0"/>
                    <a:pt x="168148" y="0"/>
                  </a:cubicBezTo>
                  <a:cubicBezTo>
                    <a:pt x="260985" y="0"/>
                    <a:pt x="336296" y="75311"/>
                    <a:pt x="336296" y="168148"/>
                  </a:cubicBezTo>
                  <a:cubicBezTo>
                    <a:pt x="336296" y="260985"/>
                    <a:pt x="260985" y="336296"/>
                    <a:pt x="168148" y="336296"/>
                  </a:cubicBezTo>
                  <a:cubicBezTo>
                    <a:pt x="75311" y="336296"/>
                    <a:pt x="0" y="260985"/>
                    <a:pt x="0" y="168148"/>
                  </a:cubicBezTo>
                  <a:close/>
                </a:path>
              </a:pathLst>
            </a:custGeom>
            <a:solidFill>
              <a:srgbClr val="81E7A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5352395" y="5806059"/>
            <a:ext cx="197358" cy="197358"/>
            <a:chOff x="0" y="0"/>
            <a:chExt cx="263144" cy="26314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63144" cy="263144"/>
            </a:xfrm>
            <a:custGeom>
              <a:avLst/>
              <a:gdLst/>
              <a:ahLst/>
              <a:cxnLst/>
              <a:rect l="l" t="t" r="r" b="b"/>
              <a:pathLst>
                <a:path w="263144" h="263144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cubicBezTo>
                    <a:pt x="204216" y="0"/>
                    <a:pt x="263144" y="58928"/>
                    <a:pt x="263144" y="131572"/>
                  </a:cubicBezTo>
                  <a:cubicBezTo>
                    <a:pt x="263144" y="204216"/>
                    <a:pt x="204216" y="263144"/>
                    <a:pt x="131572" y="263144"/>
                  </a:cubicBezTo>
                  <a:cubicBezTo>
                    <a:pt x="58928" y="263144"/>
                    <a:pt x="0" y="204216"/>
                    <a:pt x="0" y="131572"/>
                  </a:cubicBezTo>
                  <a:close/>
                </a:path>
              </a:pathLst>
            </a:custGeom>
            <a:solidFill>
              <a:srgbClr val="81E7A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667863" y="5325999"/>
            <a:ext cx="169926" cy="169926"/>
            <a:chOff x="0" y="0"/>
            <a:chExt cx="226568" cy="22656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26568" cy="226568"/>
            </a:xfrm>
            <a:custGeom>
              <a:avLst/>
              <a:gdLst/>
              <a:ahLst/>
              <a:cxnLst/>
              <a:rect l="l" t="t" r="r" b="b"/>
              <a:pathLst>
                <a:path w="226568" h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4BA4E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AutoShape 66"/>
          <p:cNvSpPr/>
          <p:nvPr/>
        </p:nvSpPr>
        <p:spPr>
          <a:xfrm rot="3273480">
            <a:off x="11669135" y="2964752"/>
            <a:ext cx="1460259" cy="0"/>
          </a:xfrm>
          <a:prstGeom prst="line">
            <a:avLst/>
          </a:prstGeom>
          <a:ln w="9525" cap="rnd">
            <a:solidFill>
              <a:srgbClr val="4BA4E5">
                <a:alpha val="7568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7" name="AutoShape 67"/>
          <p:cNvSpPr/>
          <p:nvPr/>
        </p:nvSpPr>
        <p:spPr>
          <a:xfrm rot="4328820">
            <a:off x="10897229" y="6304597"/>
            <a:ext cx="2359419" cy="0"/>
          </a:xfrm>
          <a:prstGeom prst="line">
            <a:avLst/>
          </a:prstGeom>
          <a:ln w="9525" cap="rnd">
            <a:solidFill>
              <a:srgbClr val="4BA4E5">
                <a:alpha val="7568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8" name="AutoShape 68"/>
          <p:cNvSpPr/>
          <p:nvPr/>
        </p:nvSpPr>
        <p:spPr>
          <a:xfrm rot="5140080">
            <a:off x="15771124" y="4809554"/>
            <a:ext cx="2857471" cy="0"/>
          </a:xfrm>
          <a:prstGeom prst="line">
            <a:avLst/>
          </a:prstGeom>
          <a:ln w="9525" cap="rnd">
            <a:solidFill>
              <a:srgbClr val="4BA4E5">
                <a:alpha val="75686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9" name="Group 69"/>
          <p:cNvGrpSpPr/>
          <p:nvPr/>
        </p:nvGrpSpPr>
        <p:grpSpPr>
          <a:xfrm>
            <a:off x="11854815" y="2253615"/>
            <a:ext cx="279654" cy="279654"/>
            <a:chOff x="0" y="0"/>
            <a:chExt cx="372872" cy="37287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72872" cy="372872"/>
            </a:xfrm>
            <a:custGeom>
              <a:avLst/>
              <a:gdLst/>
              <a:ahLst/>
              <a:cxnLst/>
              <a:rect l="l" t="t" r="r" b="b"/>
              <a:pathLst>
                <a:path w="372872" h="372872">
                  <a:moveTo>
                    <a:pt x="0" y="186436"/>
                  </a:moveTo>
                  <a:cubicBezTo>
                    <a:pt x="0" y="83439"/>
                    <a:pt x="83439" y="0"/>
                    <a:pt x="186436" y="0"/>
                  </a:cubicBezTo>
                  <a:cubicBezTo>
                    <a:pt x="289433" y="0"/>
                    <a:pt x="372872" y="83439"/>
                    <a:pt x="372872" y="186436"/>
                  </a:cubicBezTo>
                  <a:cubicBezTo>
                    <a:pt x="372872" y="289433"/>
                    <a:pt x="289433" y="372872"/>
                    <a:pt x="186436" y="372872"/>
                  </a:cubicBezTo>
                  <a:cubicBezTo>
                    <a:pt x="83439" y="372872"/>
                    <a:pt x="0" y="289433"/>
                    <a:pt x="0" y="186436"/>
                  </a:cubicBezTo>
                  <a:close/>
                </a:path>
              </a:pathLst>
            </a:custGeom>
            <a:solidFill>
              <a:srgbClr val="4BA4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1917909" y="2315337"/>
            <a:ext cx="142494" cy="142494"/>
            <a:chOff x="0" y="0"/>
            <a:chExt cx="189992" cy="189992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4FB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2677775" y="3419475"/>
            <a:ext cx="279654" cy="279654"/>
            <a:chOff x="0" y="0"/>
            <a:chExt cx="372872" cy="37287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72872" cy="372872"/>
            </a:xfrm>
            <a:custGeom>
              <a:avLst/>
              <a:gdLst/>
              <a:ahLst/>
              <a:cxnLst/>
              <a:rect l="l" t="t" r="r" b="b"/>
              <a:pathLst>
                <a:path w="372872" h="372872">
                  <a:moveTo>
                    <a:pt x="0" y="186436"/>
                  </a:moveTo>
                  <a:cubicBezTo>
                    <a:pt x="0" y="83439"/>
                    <a:pt x="83439" y="0"/>
                    <a:pt x="186436" y="0"/>
                  </a:cubicBezTo>
                  <a:cubicBezTo>
                    <a:pt x="289433" y="0"/>
                    <a:pt x="372872" y="83439"/>
                    <a:pt x="372872" y="186436"/>
                  </a:cubicBezTo>
                  <a:cubicBezTo>
                    <a:pt x="372872" y="289433"/>
                    <a:pt x="289433" y="372872"/>
                    <a:pt x="186436" y="372872"/>
                  </a:cubicBezTo>
                  <a:cubicBezTo>
                    <a:pt x="83439" y="372872"/>
                    <a:pt x="0" y="289433"/>
                    <a:pt x="0" y="186436"/>
                  </a:cubicBez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2740869" y="3481197"/>
            <a:ext cx="142494" cy="142494"/>
            <a:chOff x="0" y="0"/>
            <a:chExt cx="189992" cy="1899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4FB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1594211" y="5065395"/>
            <a:ext cx="279654" cy="279654"/>
            <a:chOff x="0" y="0"/>
            <a:chExt cx="372872" cy="372872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72872" cy="372872"/>
            </a:xfrm>
            <a:custGeom>
              <a:avLst/>
              <a:gdLst/>
              <a:ahLst/>
              <a:cxnLst/>
              <a:rect l="l" t="t" r="r" b="b"/>
              <a:pathLst>
                <a:path w="372872" h="372872">
                  <a:moveTo>
                    <a:pt x="0" y="186436"/>
                  </a:moveTo>
                  <a:cubicBezTo>
                    <a:pt x="0" y="83439"/>
                    <a:pt x="83439" y="0"/>
                    <a:pt x="186436" y="0"/>
                  </a:cubicBezTo>
                  <a:cubicBezTo>
                    <a:pt x="289433" y="0"/>
                    <a:pt x="372872" y="83439"/>
                    <a:pt x="372872" y="186436"/>
                  </a:cubicBezTo>
                  <a:cubicBezTo>
                    <a:pt x="372872" y="289433"/>
                    <a:pt x="289433" y="372872"/>
                    <a:pt x="186436" y="372872"/>
                  </a:cubicBezTo>
                  <a:cubicBezTo>
                    <a:pt x="83439" y="372872"/>
                    <a:pt x="0" y="289433"/>
                    <a:pt x="0" y="186436"/>
                  </a:cubicBezTo>
                  <a:close/>
                </a:path>
              </a:pathLst>
            </a:custGeom>
            <a:solidFill>
              <a:srgbClr val="4BA4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1657305" y="5127117"/>
            <a:ext cx="142494" cy="142494"/>
            <a:chOff x="0" y="0"/>
            <a:chExt cx="189992" cy="18999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4FB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12293727" y="7287387"/>
            <a:ext cx="279654" cy="279654"/>
            <a:chOff x="0" y="0"/>
            <a:chExt cx="372872" cy="372872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372872" cy="372872"/>
            </a:xfrm>
            <a:custGeom>
              <a:avLst/>
              <a:gdLst/>
              <a:ahLst/>
              <a:cxnLst/>
              <a:rect l="l" t="t" r="r" b="b"/>
              <a:pathLst>
                <a:path w="372872" h="372872">
                  <a:moveTo>
                    <a:pt x="0" y="186436"/>
                  </a:moveTo>
                  <a:cubicBezTo>
                    <a:pt x="0" y="83439"/>
                    <a:pt x="83439" y="0"/>
                    <a:pt x="186436" y="0"/>
                  </a:cubicBezTo>
                  <a:cubicBezTo>
                    <a:pt x="289433" y="0"/>
                    <a:pt x="372872" y="83439"/>
                    <a:pt x="372872" y="186436"/>
                  </a:cubicBezTo>
                  <a:cubicBezTo>
                    <a:pt x="372872" y="289433"/>
                    <a:pt x="289433" y="372872"/>
                    <a:pt x="186436" y="372872"/>
                  </a:cubicBezTo>
                  <a:cubicBezTo>
                    <a:pt x="83439" y="372872"/>
                    <a:pt x="0" y="289433"/>
                    <a:pt x="0" y="186436"/>
                  </a:cubicBez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2356821" y="7349109"/>
            <a:ext cx="142494" cy="142494"/>
            <a:chOff x="0" y="0"/>
            <a:chExt cx="189992" cy="18999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4FB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6970883" y="3268599"/>
            <a:ext cx="279654" cy="279654"/>
            <a:chOff x="0" y="0"/>
            <a:chExt cx="372872" cy="37287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72872" cy="372872"/>
            </a:xfrm>
            <a:custGeom>
              <a:avLst/>
              <a:gdLst/>
              <a:ahLst/>
              <a:cxnLst/>
              <a:rect l="l" t="t" r="r" b="b"/>
              <a:pathLst>
                <a:path w="372872" h="372872">
                  <a:moveTo>
                    <a:pt x="0" y="186436"/>
                  </a:moveTo>
                  <a:cubicBezTo>
                    <a:pt x="0" y="83439"/>
                    <a:pt x="83439" y="0"/>
                    <a:pt x="186436" y="0"/>
                  </a:cubicBezTo>
                  <a:cubicBezTo>
                    <a:pt x="289433" y="0"/>
                    <a:pt x="372872" y="83439"/>
                    <a:pt x="372872" y="186436"/>
                  </a:cubicBezTo>
                  <a:cubicBezTo>
                    <a:pt x="372872" y="289433"/>
                    <a:pt x="289433" y="372872"/>
                    <a:pt x="186436" y="372872"/>
                  </a:cubicBezTo>
                  <a:cubicBezTo>
                    <a:pt x="83439" y="372872"/>
                    <a:pt x="0" y="289433"/>
                    <a:pt x="0" y="186436"/>
                  </a:cubicBezTo>
                  <a:close/>
                </a:path>
              </a:pathLst>
            </a:custGeom>
            <a:solidFill>
              <a:srgbClr val="4BA4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7033977" y="3330321"/>
            <a:ext cx="142494" cy="142494"/>
            <a:chOff x="0" y="0"/>
            <a:chExt cx="189992" cy="189992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4FB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17162907" y="6094095"/>
            <a:ext cx="279654" cy="279654"/>
            <a:chOff x="0" y="0"/>
            <a:chExt cx="372872" cy="372872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72872" cy="372872"/>
            </a:xfrm>
            <a:custGeom>
              <a:avLst/>
              <a:gdLst/>
              <a:ahLst/>
              <a:cxnLst/>
              <a:rect l="l" t="t" r="r" b="b"/>
              <a:pathLst>
                <a:path w="372872" h="372872">
                  <a:moveTo>
                    <a:pt x="0" y="186436"/>
                  </a:moveTo>
                  <a:cubicBezTo>
                    <a:pt x="0" y="83439"/>
                    <a:pt x="83439" y="0"/>
                    <a:pt x="186436" y="0"/>
                  </a:cubicBezTo>
                  <a:cubicBezTo>
                    <a:pt x="289433" y="0"/>
                    <a:pt x="372872" y="83439"/>
                    <a:pt x="372872" y="186436"/>
                  </a:cubicBezTo>
                  <a:cubicBezTo>
                    <a:pt x="372872" y="289433"/>
                    <a:pt x="289433" y="372872"/>
                    <a:pt x="186436" y="372872"/>
                  </a:cubicBezTo>
                  <a:cubicBezTo>
                    <a:pt x="83439" y="372872"/>
                    <a:pt x="0" y="289433"/>
                    <a:pt x="0" y="186436"/>
                  </a:cubicBez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7226001" y="6155817"/>
            <a:ext cx="142494" cy="142494"/>
            <a:chOff x="0" y="0"/>
            <a:chExt cx="189992" cy="189992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4FB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6312515" y="7561707"/>
            <a:ext cx="279654" cy="279654"/>
            <a:chOff x="0" y="0"/>
            <a:chExt cx="372872" cy="372872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72872" cy="372872"/>
            </a:xfrm>
            <a:custGeom>
              <a:avLst/>
              <a:gdLst/>
              <a:ahLst/>
              <a:cxnLst/>
              <a:rect l="l" t="t" r="r" b="b"/>
              <a:pathLst>
                <a:path w="372872" h="372872">
                  <a:moveTo>
                    <a:pt x="0" y="186436"/>
                  </a:moveTo>
                  <a:cubicBezTo>
                    <a:pt x="0" y="83439"/>
                    <a:pt x="83439" y="0"/>
                    <a:pt x="186436" y="0"/>
                  </a:cubicBezTo>
                  <a:cubicBezTo>
                    <a:pt x="289433" y="0"/>
                    <a:pt x="372872" y="83439"/>
                    <a:pt x="372872" y="186436"/>
                  </a:cubicBezTo>
                  <a:cubicBezTo>
                    <a:pt x="372872" y="289433"/>
                    <a:pt x="289433" y="372872"/>
                    <a:pt x="186436" y="372872"/>
                  </a:cubicBezTo>
                  <a:cubicBezTo>
                    <a:pt x="83439" y="372872"/>
                    <a:pt x="0" y="289433"/>
                    <a:pt x="0" y="186436"/>
                  </a:cubicBezTo>
                  <a:close/>
                </a:path>
              </a:pathLst>
            </a:custGeom>
            <a:solidFill>
              <a:srgbClr val="4BA4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6375609" y="7623429"/>
            <a:ext cx="142494" cy="142494"/>
            <a:chOff x="0" y="0"/>
            <a:chExt cx="189992" cy="18999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89992" cy="189992"/>
            </a:xfrm>
            <a:custGeom>
              <a:avLst/>
              <a:gdLst/>
              <a:ahLst/>
              <a:cxnLst/>
              <a:rect l="l" t="t" r="r" b="b"/>
              <a:pathLst>
                <a:path w="189992" h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4FB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1991499" y="8439055"/>
            <a:ext cx="5286946" cy="500062"/>
            <a:chOff x="0" y="0"/>
            <a:chExt cx="7049262" cy="666750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7049262" cy="666750"/>
            </a:xfrm>
            <a:custGeom>
              <a:avLst/>
              <a:gdLst/>
              <a:ahLst/>
              <a:cxnLst/>
              <a:rect l="l" t="t" r="r" b="b"/>
              <a:pathLst>
                <a:path w="7049262" h="666750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6715887" y="0"/>
                  </a:lnTo>
                  <a:cubicBezTo>
                    <a:pt x="6900037" y="0"/>
                    <a:pt x="7049262" y="149225"/>
                    <a:pt x="7049262" y="333375"/>
                  </a:cubicBezTo>
                  <a:cubicBezTo>
                    <a:pt x="7049262" y="517525"/>
                    <a:pt x="6900037" y="666750"/>
                    <a:pt x="6715887" y="666750"/>
                  </a:cubicBezTo>
                  <a:lnTo>
                    <a:pt x="333375" y="666750"/>
                  </a:lnTo>
                  <a:cubicBezTo>
                    <a:pt x="149225" y="666750"/>
                    <a:pt x="0" y="517525"/>
                    <a:pt x="0" y="333375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0E2B44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2179808" y="8503920"/>
            <a:ext cx="4910328" cy="329184"/>
            <a:chOff x="0" y="0"/>
            <a:chExt cx="6547104" cy="438912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6547104" cy="438912"/>
            </a:xfrm>
            <a:custGeom>
              <a:avLst/>
              <a:gdLst/>
              <a:ahLst/>
              <a:cxnLst/>
              <a:rect l="l" t="t" r="r" b="b"/>
              <a:pathLst>
                <a:path w="6547104" h="438912">
                  <a:moveTo>
                    <a:pt x="0" y="0"/>
                  </a:moveTo>
                  <a:lnTo>
                    <a:pt x="6547104" y="0"/>
                  </a:lnTo>
                  <a:lnTo>
                    <a:pt x="654710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0651" b="-24065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0" y="-19050"/>
              <a:ext cx="6547104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5"/>
                </a:lnSpc>
              </a:pPr>
              <a:r>
                <a:rPr lang="en-US" sz="1604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VISIÓN POR COMPUTADORA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16459200" y="9724644"/>
            <a:ext cx="1097280" cy="260604"/>
            <a:chOff x="0" y="0"/>
            <a:chExt cx="1463040" cy="347472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463040" cy="347472"/>
            </a:xfrm>
            <a:custGeom>
              <a:avLst/>
              <a:gdLst/>
              <a:ahLst/>
              <a:cxnLst/>
              <a:rect l="l" t="t" r="r" b="b"/>
              <a:pathLst>
                <a:path w="1463040" h="347472">
                  <a:moveTo>
                    <a:pt x="0" y="0"/>
                  </a:moveTo>
                  <a:lnTo>
                    <a:pt x="1463040" y="0"/>
                  </a:lnTo>
                  <a:lnTo>
                    <a:pt x="1463040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042" b="-3204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1463040" cy="3665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800"/>
                </a:lnSpc>
              </a:pPr>
              <a:r>
                <a:rPr lang="en-US" sz="1500" b="1" dirty="0">
                  <a:solidFill>
                    <a:srgbClr val="9CB9C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 / 05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4488"/>
            <a:chOff x="0" y="0"/>
            <a:chExt cx="24409400" cy="125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25984"/>
            </a:xfrm>
            <a:custGeom>
              <a:avLst/>
              <a:gdLst/>
              <a:ahLst/>
              <a:cxnLst/>
              <a:rect l="l" t="t" r="r" b="b"/>
              <a:pathLst>
                <a:path w="24409400" h="125984">
                  <a:moveTo>
                    <a:pt x="0" y="0"/>
                  </a:moveTo>
                  <a:lnTo>
                    <a:pt x="24409400" y="0"/>
                  </a:lnTo>
                  <a:lnTo>
                    <a:pt x="24409400" y="125984"/>
                  </a:lnTo>
                  <a:lnTo>
                    <a:pt x="0" y="125984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521208"/>
            <a:ext cx="11795760" cy="342900"/>
            <a:chOff x="0" y="0"/>
            <a:chExt cx="1572768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727680" cy="457200"/>
            </a:xfrm>
            <a:custGeom>
              <a:avLst/>
              <a:gdLst/>
              <a:ahLst/>
              <a:cxnLst/>
              <a:rect l="l" t="t" r="r" b="b"/>
              <a:pathLst>
                <a:path w="15727680" h="457200">
                  <a:moveTo>
                    <a:pt x="0" y="0"/>
                  </a:moveTo>
                  <a:lnTo>
                    <a:pt x="15727680" y="0"/>
                  </a:lnTo>
                  <a:lnTo>
                    <a:pt x="157276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285" b="-6202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572768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 / PROBLEMA Y OBJETIVO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4380" y="1124712"/>
            <a:ext cx="16802100" cy="795528"/>
            <a:chOff x="0" y="0"/>
            <a:chExt cx="22402800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02800" cy="1060704"/>
            </a:xfrm>
            <a:custGeom>
              <a:avLst/>
              <a:gdLst/>
              <a:ahLst/>
              <a:cxnLst/>
              <a:rect l="l" t="t" r="r" b="b"/>
              <a:pathLst>
                <a:path w="22402800" h="1060704">
                  <a:moveTo>
                    <a:pt x="0" y="0"/>
                  </a:moveTo>
                  <a:lnTo>
                    <a:pt x="22402800" y="0"/>
                  </a:lnTo>
                  <a:lnTo>
                    <a:pt x="224028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537" b="-361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402800" cy="10797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El desafío: reconocer objetos similares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8096" y="2002536"/>
            <a:ext cx="16664940" cy="466344"/>
            <a:chOff x="0" y="0"/>
            <a:chExt cx="22219920" cy="6217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9920" cy="621792"/>
            </a:xfrm>
            <a:custGeom>
              <a:avLst/>
              <a:gdLst/>
              <a:ahLst/>
              <a:cxnLst/>
              <a:rect l="l" t="t" r="r" b="b"/>
              <a:pathLst>
                <a:path w="22219920" h="621792">
                  <a:moveTo>
                    <a:pt x="0" y="0"/>
                  </a:moveTo>
                  <a:lnTo>
                    <a:pt x="22219920" y="0"/>
                  </a:lnTo>
                  <a:lnTo>
                    <a:pt x="22219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6303" b="-646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2199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9CB9CB"/>
                  </a:solidFill>
                  <a:latin typeface="Arial"/>
                  <a:ea typeface="Arial"/>
                  <a:cs typeface="Arial"/>
                  <a:sym typeface="Arial"/>
                </a:rPr>
                <a:t>El vidrio transparente cambia de apariencia según el entorno.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rot="3120">
            <a:off x="760476" y="9829610"/>
            <a:ext cx="16762486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95528" y="9930384"/>
            <a:ext cx="11658600" cy="205740"/>
            <a:chOff x="0" y="0"/>
            <a:chExt cx="15544800" cy="2743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44800" cy="274320"/>
            </a:xfrm>
            <a:custGeom>
              <a:avLst/>
              <a:gdLst/>
              <a:ahLst/>
              <a:cxnLst/>
              <a:rect l="l" t="t" r="r" b="b"/>
              <a:pathLst>
                <a:path w="15544800" h="274320">
                  <a:moveTo>
                    <a:pt x="0" y="0"/>
                  </a:moveTo>
                  <a:lnTo>
                    <a:pt x="15544800" y="0"/>
                  </a:lnTo>
                  <a:lnTo>
                    <a:pt x="15544800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4152" b="-10541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5544800" cy="293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47"/>
                </a:lnSpc>
              </a:pPr>
              <a:r>
                <a:rPr lang="en-US" sz="1289" b="1">
                  <a:solidFill>
                    <a:srgbClr val="9CB9C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AGENTE INTELIGENTE DE LABORATORIO QUÍMICO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294608" y="9916668"/>
            <a:ext cx="1248156" cy="233172"/>
            <a:chOff x="0" y="0"/>
            <a:chExt cx="1664208" cy="3108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64208" cy="310896"/>
            </a:xfrm>
            <a:custGeom>
              <a:avLst/>
              <a:gdLst/>
              <a:ahLst/>
              <a:cxnLst/>
              <a:rect l="l" t="t" r="r" b="b"/>
              <a:pathLst>
                <a:path w="1664208" h="310896">
                  <a:moveTo>
                    <a:pt x="0" y="0"/>
                  </a:moveTo>
                  <a:lnTo>
                    <a:pt x="1664208" y="0"/>
                  </a:lnTo>
                  <a:lnTo>
                    <a:pt x="166420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302" b="-543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664208" cy="329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 dirty="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 / 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82547" y="9962007"/>
            <a:ext cx="190500" cy="67056"/>
            <a:chOff x="0" y="0"/>
            <a:chExt cx="254000" cy="894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556867" y="9962007"/>
            <a:ext cx="190500" cy="67056"/>
            <a:chOff x="0" y="0"/>
            <a:chExt cx="254000" cy="894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831187" y="9962007"/>
            <a:ext cx="190500" cy="67056"/>
            <a:chOff x="0" y="0"/>
            <a:chExt cx="254000" cy="894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105507" y="9962007"/>
            <a:ext cx="190500" cy="67056"/>
            <a:chOff x="0" y="0"/>
            <a:chExt cx="254000" cy="894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379827" y="9962007"/>
            <a:ext cx="190500" cy="67056"/>
            <a:chOff x="0" y="0"/>
            <a:chExt cx="254000" cy="894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654147" y="9962007"/>
            <a:ext cx="190500" cy="67056"/>
            <a:chOff x="0" y="0"/>
            <a:chExt cx="254000" cy="894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85527" y="2774347"/>
            <a:ext cx="3298126" cy="4244530"/>
            <a:chOff x="0" y="0"/>
            <a:chExt cx="4397502" cy="565937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397502" cy="5659374"/>
            </a:xfrm>
            <a:custGeom>
              <a:avLst/>
              <a:gdLst/>
              <a:ahLst/>
              <a:cxnLst/>
              <a:rect l="l" t="t" r="r" b="b"/>
              <a:pathLst>
                <a:path w="4397502" h="565937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4121531" y="0"/>
                  </a:lnTo>
                  <a:cubicBezTo>
                    <a:pt x="4273931" y="0"/>
                    <a:pt x="4397502" y="123571"/>
                    <a:pt x="4397502" y="275971"/>
                  </a:cubicBezTo>
                  <a:lnTo>
                    <a:pt x="4397502" y="5383403"/>
                  </a:lnTo>
                  <a:cubicBezTo>
                    <a:pt x="4397502" y="5535803"/>
                    <a:pt x="4273931" y="5659374"/>
                    <a:pt x="4121531" y="5659374"/>
                  </a:cubicBezTo>
                  <a:lnTo>
                    <a:pt x="275971" y="5659374"/>
                  </a:lnTo>
                  <a:cubicBezTo>
                    <a:pt x="123571" y="5659374"/>
                    <a:pt x="0" y="5535803"/>
                    <a:pt x="0" y="5383403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59847" y="3144679"/>
            <a:ext cx="637222" cy="637222"/>
            <a:chOff x="0" y="0"/>
            <a:chExt cx="849630" cy="84963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49630" cy="849630"/>
            </a:xfrm>
            <a:custGeom>
              <a:avLst/>
              <a:gdLst/>
              <a:ahLst/>
              <a:cxnLst/>
              <a:rect l="l" t="t" r="r" b="b"/>
              <a:pathLst>
                <a:path w="849630" h="849630">
                  <a:moveTo>
                    <a:pt x="0" y="188849"/>
                  </a:moveTo>
                  <a:cubicBezTo>
                    <a:pt x="0" y="84582"/>
                    <a:pt x="84582" y="0"/>
                    <a:pt x="188849" y="0"/>
                  </a:cubicBezTo>
                  <a:lnTo>
                    <a:pt x="660781" y="0"/>
                  </a:lnTo>
                  <a:cubicBezTo>
                    <a:pt x="765048" y="0"/>
                    <a:pt x="849630" y="84582"/>
                    <a:pt x="849630" y="188849"/>
                  </a:cubicBezTo>
                  <a:lnTo>
                    <a:pt x="849630" y="660781"/>
                  </a:lnTo>
                  <a:cubicBezTo>
                    <a:pt x="849630" y="765048"/>
                    <a:pt x="765048" y="849630"/>
                    <a:pt x="660781" y="849630"/>
                  </a:cubicBezTo>
                  <a:lnTo>
                    <a:pt x="188849" y="849630"/>
                  </a:lnTo>
                  <a:cubicBezTo>
                    <a:pt x="84582" y="849630"/>
                    <a:pt x="0" y="765048"/>
                    <a:pt x="0" y="660781"/>
                  </a:cubicBezTo>
                  <a:close/>
                </a:path>
              </a:pathLst>
            </a:custGeom>
            <a:solidFill>
              <a:srgbClr val="0B2238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24712" y="3264408"/>
            <a:ext cx="507492" cy="288036"/>
            <a:chOff x="0" y="0"/>
            <a:chExt cx="676656" cy="3840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76656" cy="384048"/>
            </a:xfrm>
            <a:custGeom>
              <a:avLst/>
              <a:gdLst/>
              <a:ahLst/>
              <a:cxnLst/>
              <a:rect l="l" t="t" r="r" b="b"/>
              <a:pathLst>
                <a:path w="676656" h="384048">
                  <a:moveTo>
                    <a:pt x="0" y="0"/>
                  </a:moveTo>
                  <a:lnTo>
                    <a:pt x="676656" y="0"/>
                  </a:lnTo>
                  <a:lnTo>
                    <a:pt x="676656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820" r="-2282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676656" cy="403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id="39" name="AutoShape 39"/>
          <p:cNvSpPr/>
          <p:nvPr/>
        </p:nvSpPr>
        <p:spPr>
          <a:xfrm rot="24840">
            <a:off x="1115149" y="4178617"/>
            <a:ext cx="2638873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1097280" y="4567428"/>
            <a:ext cx="2729484" cy="726948"/>
            <a:chOff x="0" y="0"/>
            <a:chExt cx="3639312" cy="96926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639312" cy="969264"/>
            </a:xfrm>
            <a:custGeom>
              <a:avLst/>
              <a:gdLst/>
              <a:ahLst/>
              <a:cxnLst/>
              <a:rect l="l" t="t" r="r" b="b"/>
              <a:pathLst>
                <a:path w="3639312" h="969264">
                  <a:moveTo>
                    <a:pt x="0" y="0"/>
                  </a:moveTo>
                  <a:lnTo>
                    <a:pt x="3639312" y="0"/>
                  </a:lnTo>
                  <a:lnTo>
                    <a:pt x="3639312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160" b="-231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3639312" cy="978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Formas parecidas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97280" y="5535930"/>
            <a:ext cx="2784348" cy="96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B6D8E5"/>
                </a:solidFill>
                <a:latin typeface="Arial"/>
                <a:ea typeface="Arial"/>
                <a:cs typeface="Arial"/>
                <a:sym typeface="Arial"/>
              </a:rPr>
              <a:t>Recipientes con geometrías</a:t>
            </a:r>
          </a:p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B6D8E5"/>
                </a:solidFill>
                <a:latin typeface="Arial"/>
                <a:ea typeface="Arial"/>
                <a:cs typeface="Arial"/>
                <a:sym typeface="Arial"/>
              </a:rPr>
              <a:t>visualmente similares.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4310539" y="2774347"/>
            <a:ext cx="3298126" cy="4244530"/>
            <a:chOff x="0" y="0"/>
            <a:chExt cx="4397502" cy="565937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97502" cy="5659374"/>
            </a:xfrm>
            <a:custGeom>
              <a:avLst/>
              <a:gdLst/>
              <a:ahLst/>
              <a:cxnLst/>
              <a:rect l="l" t="t" r="r" b="b"/>
              <a:pathLst>
                <a:path w="4397502" h="565937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4121531" y="0"/>
                  </a:lnTo>
                  <a:cubicBezTo>
                    <a:pt x="4273931" y="0"/>
                    <a:pt x="4397502" y="123571"/>
                    <a:pt x="4397502" y="275971"/>
                  </a:cubicBezTo>
                  <a:lnTo>
                    <a:pt x="4397502" y="5383403"/>
                  </a:lnTo>
                  <a:cubicBezTo>
                    <a:pt x="4397502" y="5535803"/>
                    <a:pt x="4273931" y="5659374"/>
                    <a:pt x="4121531" y="5659374"/>
                  </a:cubicBezTo>
                  <a:lnTo>
                    <a:pt x="275971" y="5659374"/>
                  </a:lnTo>
                  <a:cubicBezTo>
                    <a:pt x="123571" y="5659374"/>
                    <a:pt x="0" y="5535803"/>
                    <a:pt x="0" y="5383403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84859" y="3144679"/>
            <a:ext cx="637222" cy="637222"/>
            <a:chOff x="0" y="0"/>
            <a:chExt cx="849630" cy="84963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49630" cy="849630"/>
            </a:xfrm>
            <a:custGeom>
              <a:avLst/>
              <a:gdLst/>
              <a:ahLst/>
              <a:cxnLst/>
              <a:rect l="l" t="t" r="r" b="b"/>
              <a:pathLst>
                <a:path w="849630" h="849630">
                  <a:moveTo>
                    <a:pt x="0" y="188849"/>
                  </a:moveTo>
                  <a:cubicBezTo>
                    <a:pt x="0" y="84582"/>
                    <a:pt x="84582" y="0"/>
                    <a:pt x="188849" y="0"/>
                  </a:cubicBezTo>
                  <a:lnTo>
                    <a:pt x="660781" y="0"/>
                  </a:lnTo>
                  <a:cubicBezTo>
                    <a:pt x="765048" y="0"/>
                    <a:pt x="849630" y="84582"/>
                    <a:pt x="849630" y="188849"/>
                  </a:cubicBezTo>
                  <a:lnTo>
                    <a:pt x="849630" y="660781"/>
                  </a:lnTo>
                  <a:cubicBezTo>
                    <a:pt x="849630" y="765048"/>
                    <a:pt x="765048" y="849630"/>
                    <a:pt x="660781" y="849630"/>
                  </a:cubicBezTo>
                  <a:lnTo>
                    <a:pt x="188849" y="849630"/>
                  </a:lnTo>
                  <a:cubicBezTo>
                    <a:pt x="84582" y="849630"/>
                    <a:pt x="0" y="765048"/>
                    <a:pt x="0" y="660781"/>
                  </a:cubicBezTo>
                  <a:close/>
                </a:path>
              </a:pathLst>
            </a:custGeom>
            <a:solidFill>
              <a:srgbClr val="0B2238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649724" y="3264408"/>
            <a:ext cx="507492" cy="288036"/>
            <a:chOff x="0" y="0"/>
            <a:chExt cx="676656" cy="3840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676656" cy="384048"/>
            </a:xfrm>
            <a:custGeom>
              <a:avLst/>
              <a:gdLst/>
              <a:ahLst/>
              <a:cxnLst/>
              <a:rect l="l" t="t" r="r" b="b"/>
              <a:pathLst>
                <a:path w="676656" h="384048">
                  <a:moveTo>
                    <a:pt x="0" y="0"/>
                  </a:moveTo>
                  <a:lnTo>
                    <a:pt x="676656" y="0"/>
                  </a:lnTo>
                  <a:lnTo>
                    <a:pt x="676656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820" r="-2282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676656" cy="403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 rot="24840">
            <a:off x="4640161" y="4178617"/>
            <a:ext cx="2638873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2" name="Group 52"/>
          <p:cNvGrpSpPr/>
          <p:nvPr/>
        </p:nvGrpSpPr>
        <p:grpSpPr>
          <a:xfrm>
            <a:off x="4622292" y="4567428"/>
            <a:ext cx="2729484" cy="726948"/>
            <a:chOff x="0" y="0"/>
            <a:chExt cx="3639312" cy="96926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639312" cy="969264"/>
            </a:xfrm>
            <a:custGeom>
              <a:avLst/>
              <a:gdLst/>
              <a:ahLst/>
              <a:cxnLst/>
              <a:rect l="l" t="t" r="r" b="b"/>
              <a:pathLst>
                <a:path w="3639312" h="969264">
                  <a:moveTo>
                    <a:pt x="0" y="0"/>
                  </a:moveTo>
                  <a:lnTo>
                    <a:pt x="3639312" y="0"/>
                  </a:lnTo>
                  <a:lnTo>
                    <a:pt x="3639312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160" b="-231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3639312" cy="978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Vidrio transparente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4622292" y="5535930"/>
            <a:ext cx="2784348" cy="96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B6D8E5"/>
                </a:solidFill>
                <a:latin typeface="Arial"/>
                <a:ea typeface="Arial"/>
                <a:cs typeface="Arial"/>
                <a:sym typeface="Arial"/>
              </a:rPr>
              <a:t>Sus bordes pueden confundirse</a:t>
            </a:r>
          </a:p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B6D8E5"/>
                </a:solidFill>
                <a:latin typeface="Arial"/>
                <a:ea typeface="Arial"/>
                <a:cs typeface="Arial"/>
                <a:sym typeface="Arial"/>
              </a:rPr>
              <a:t>con el fondo.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7835551" y="2774347"/>
            <a:ext cx="3298126" cy="4244530"/>
            <a:chOff x="0" y="0"/>
            <a:chExt cx="4397502" cy="565937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397502" cy="5659374"/>
            </a:xfrm>
            <a:custGeom>
              <a:avLst/>
              <a:gdLst/>
              <a:ahLst/>
              <a:cxnLst/>
              <a:rect l="l" t="t" r="r" b="b"/>
              <a:pathLst>
                <a:path w="4397502" h="5659374">
                  <a:moveTo>
                    <a:pt x="0" y="275971"/>
                  </a:moveTo>
                  <a:cubicBezTo>
                    <a:pt x="0" y="123571"/>
                    <a:pt x="123571" y="0"/>
                    <a:pt x="275971" y="0"/>
                  </a:cubicBezTo>
                  <a:lnTo>
                    <a:pt x="4121531" y="0"/>
                  </a:lnTo>
                  <a:cubicBezTo>
                    <a:pt x="4273931" y="0"/>
                    <a:pt x="4397502" y="123571"/>
                    <a:pt x="4397502" y="275971"/>
                  </a:cubicBezTo>
                  <a:lnTo>
                    <a:pt x="4397502" y="5383403"/>
                  </a:lnTo>
                  <a:cubicBezTo>
                    <a:pt x="4397502" y="5535803"/>
                    <a:pt x="4273931" y="5659374"/>
                    <a:pt x="4121531" y="5659374"/>
                  </a:cubicBezTo>
                  <a:lnTo>
                    <a:pt x="275971" y="5659374"/>
                  </a:lnTo>
                  <a:cubicBezTo>
                    <a:pt x="123571" y="5659374"/>
                    <a:pt x="0" y="5535803"/>
                    <a:pt x="0" y="5383403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109871" y="3144679"/>
            <a:ext cx="637222" cy="637222"/>
            <a:chOff x="0" y="0"/>
            <a:chExt cx="849630" cy="84963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849630" cy="849630"/>
            </a:xfrm>
            <a:custGeom>
              <a:avLst/>
              <a:gdLst/>
              <a:ahLst/>
              <a:cxnLst/>
              <a:rect l="l" t="t" r="r" b="b"/>
              <a:pathLst>
                <a:path w="849630" h="849630">
                  <a:moveTo>
                    <a:pt x="0" y="188849"/>
                  </a:moveTo>
                  <a:cubicBezTo>
                    <a:pt x="0" y="84582"/>
                    <a:pt x="84582" y="0"/>
                    <a:pt x="188849" y="0"/>
                  </a:cubicBezTo>
                  <a:lnTo>
                    <a:pt x="660781" y="0"/>
                  </a:lnTo>
                  <a:cubicBezTo>
                    <a:pt x="765048" y="0"/>
                    <a:pt x="849630" y="84582"/>
                    <a:pt x="849630" y="188849"/>
                  </a:cubicBezTo>
                  <a:lnTo>
                    <a:pt x="849630" y="660781"/>
                  </a:lnTo>
                  <a:cubicBezTo>
                    <a:pt x="849630" y="765048"/>
                    <a:pt x="765048" y="849630"/>
                    <a:pt x="660781" y="849630"/>
                  </a:cubicBezTo>
                  <a:lnTo>
                    <a:pt x="188849" y="849630"/>
                  </a:lnTo>
                  <a:cubicBezTo>
                    <a:pt x="84582" y="849630"/>
                    <a:pt x="0" y="765048"/>
                    <a:pt x="0" y="660781"/>
                  </a:cubicBezTo>
                  <a:close/>
                </a:path>
              </a:pathLst>
            </a:custGeom>
            <a:solidFill>
              <a:srgbClr val="0B2238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174736" y="3264408"/>
            <a:ext cx="507492" cy="288036"/>
            <a:chOff x="0" y="0"/>
            <a:chExt cx="676656" cy="38404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76656" cy="384048"/>
            </a:xfrm>
            <a:custGeom>
              <a:avLst/>
              <a:gdLst/>
              <a:ahLst/>
              <a:cxnLst/>
              <a:rect l="l" t="t" r="r" b="b"/>
              <a:pathLst>
                <a:path w="676656" h="384048">
                  <a:moveTo>
                    <a:pt x="0" y="0"/>
                  </a:moveTo>
                  <a:lnTo>
                    <a:pt x="676656" y="0"/>
                  </a:lnTo>
                  <a:lnTo>
                    <a:pt x="676656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2820" r="-2282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676656" cy="403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id="63" name="AutoShape 63"/>
          <p:cNvSpPr/>
          <p:nvPr/>
        </p:nvSpPr>
        <p:spPr>
          <a:xfrm rot="24840">
            <a:off x="8165173" y="4178617"/>
            <a:ext cx="2638873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4" name="Group 64"/>
          <p:cNvGrpSpPr/>
          <p:nvPr/>
        </p:nvGrpSpPr>
        <p:grpSpPr>
          <a:xfrm>
            <a:off x="8147304" y="4567428"/>
            <a:ext cx="2729484" cy="726948"/>
            <a:chOff x="0" y="0"/>
            <a:chExt cx="3639312" cy="96926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639312" cy="969264"/>
            </a:xfrm>
            <a:custGeom>
              <a:avLst/>
              <a:gdLst/>
              <a:ahLst/>
              <a:cxnLst/>
              <a:rect l="l" t="t" r="r" b="b"/>
              <a:pathLst>
                <a:path w="3639312" h="969264">
                  <a:moveTo>
                    <a:pt x="0" y="0"/>
                  </a:moveTo>
                  <a:lnTo>
                    <a:pt x="3639312" y="0"/>
                  </a:lnTo>
                  <a:lnTo>
                    <a:pt x="3639312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160" b="-2316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3639312" cy="9787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Condiciones variables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8147304" y="5535930"/>
            <a:ext cx="2784348" cy="96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B6D8E5"/>
                </a:solidFill>
                <a:latin typeface="Arial"/>
                <a:ea typeface="Arial"/>
                <a:cs typeface="Arial"/>
                <a:sym typeface="Arial"/>
              </a:rPr>
              <a:t>Reflejos, iluminación,</a:t>
            </a:r>
          </a:p>
          <a:p>
            <a:pPr algn="l">
              <a:lnSpc>
                <a:spcPts val="2375"/>
              </a:lnSpc>
            </a:pPr>
            <a:r>
              <a:rPr lang="en-US" sz="1979">
                <a:solidFill>
                  <a:srgbClr val="B6D8E5"/>
                </a:solidFill>
                <a:latin typeface="Arial"/>
                <a:ea typeface="Arial"/>
                <a:cs typeface="Arial"/>
                <a:sym typeface="Arial"/>
              </a:rPr>
              <a:t>posición y distancia.</a:t>
            </a:r>
          </a:p>
        </p:txBody>
      </p:sp>
      <p:grpSp>
        <p:nvGrpSpPr>
          <p:cNvPr id="68" name="Group 68"/>
          <p:cNvGrpSpPr/>
          <p:nvPr/>
        </p:nvGrpSpPr>
        <p:grpSpPr>
          <a:xfrm>
            <a:off x="11456575" y="2774347"/>
            <a:ext cx="6041326" cy="5177218"/>
            <a:chOff x="0" y="0"/>
            <a:chExt cx="8055102" cy="690295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8055101" cy="6902958"/>
            </a:xfrm>
            <a:custGeom>
              <a:avLst/>
              <a:gdLst/>
              <a:ahLst/>
              <a:cxnLst/>
              <a:rect l="l" t="t" r="r" b="b"/>
              <a:pathLst>
                <a:path w="8055101" h="6902958">
                  <a:moveTo>
                    <a:pt x="0" y="348869"/>
                  </a:moveTo>
                  <a:cubicBezTo>
                    <a:pt x="0" y="156210"/>
                    <a:pt x="156210" y="0"/>
                    <a:pt x="348869" y="0"/>
                  </a:cubicBezTo>
                  <a:lnTo>
                    <a:pt x="7706233" y="0"/>
                  </a:lnTo>
                  <a:cubicBezTo>
                    <a:pt x="7898892" y="0"/>
                    <a:pt x="8055101" y="156210"/>
                    <a:pt x="8055101" y="348869"/>
                  </a:cubicBezTo>
                  <a:lnTo>
                    <a:pt x="8055101" y="6554089"/>
                  </a:lnTo>
                  <a:cubicBezTo>
                    <a:pt x="8055101" y="6746748"/>
                    <a:pt x="7898892" y="6902958"/>
                    <a:pt x="7706233" y="6902958"/>
                  </a:cubicBezTo>
                  <a:lnTo>
                    <a:pt x="348869" y="6902958"/>
                  </a:lnTo>
                  <a:cubicBezTo>
                    <a:pt x="156210" y="6902958"/>
                    <a:pt x="0" y="6746748"/>
                    <a:pt x="0" y="6554089"/>
                  </a:cubicBezTo>
                  <a:close/>
                </a:path>
              </a:pathLst>
            </a:custGeom>
            <a:solidFill>
              <a:srgbClr val="163B53"/>
            </a:solidFill>
            <a:ln w="20003" cap="sq">
              <a:solidFill>
                <a:srgbClr val="35E3D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946636" y="3332988"/>
            <a:ext cx="4800600" cy="342900"/>
            <a:chOff x="0" y="0"/>
            <a:chExt cx="6400800" cy="4572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400800" cy="457200"/>
            </a:xfrm>
            <a:custGeom>
              <a:avLst/>
              <a:gdLst/>
              <a:ahLst/>
              <a:cxnLst/>
              <a:rect l="l" t="t" r="r" b="b"/>
              <a:pathLst>
                <a:path w="6400800" h="457200">
                  <a:moveTo>
                    <a:pt x="0" y="0"/>
                  </a:moveTo>
                  <a:lnTo>
                    <a:pt x="6400800" y="0"/>
                  </a:lnTo>
                  <a:lnTo>
                    <a:pt x="64008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22790" b="-2227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640080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81E7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OBJETIVO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946636" y="4032504"/>
            <a:ext cx="5253228" cy="1755648"/>
            <a:chOff x="0" y="0"/>
            <a:chExt cx="7004304" cy="234086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004304" cy="2340864"/>
            </a:xfrm>
            <a:custGeom>
              <a:avLst/>
              <a:gdLst/>
              <a:ahLst/>
              <a:cxnLst/>
              <a:rect l="l" t="t" r="r" b="b"/>
              <a:pathLst>
                <a:path w="7004304" h="2340864">
                  <a:moveTo>
                    <a:pt x="0" y="0"/>
                  </a:moveTo>
                  <a:lnTo>
                    <a:pt x="7004304" y="0"/>
                  </a:lnTo>
                  <a:lnTo>
                    <a:pt x="7004304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302" b="-83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7004304" cy="23599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Reconocer e</a:t>
              </a:r>
            </a:p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informar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1946636" y="6162675"/>
            <a:ext cx="5143500" cy="1312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2145">
                <a:solidFill>
                  <a:srgbClr val="B6D8E5"/>
                </a:solidFill>
                <a:latin typeface="Arial"/>
                <a:ea typeface="Arial"/>
                <a:cs typeface="Arial"/>
                <a:sym typeface="Arial"/>
              </a:rPr>
              <a:t>Identificar materiales y productos con</a:t>
            </a:r>
          </a:p>
          <a:p>
            <a:pPr algn="l">
              <a:lnSpc>
                <a:spcPts val="2574"/>
              </a:lnSpc>
            </a:pPr>
            <a:r>
              <a:rPr lang="en-US" sz="2145">
                <a:solidFill>
                  <a:srgbClr val="B6D8E5"/>
                </a:solidFill>
                <a:latin typeface="Arial"/>
                <a:ea typeface="Arial"/>
                <a:cs typeface="Arial"/>
                <a:sym typeface="Arial"/>
              </a:rPr>
              <a:t>cámara o imágenes y mostrar una</a:t>
            </a:r>
          </a:p>
          <a:p>
            <a:pPr algn="l">
              <a:lnSpc>
                <a:spcPts val="2574"/>
              </a:lnSpc>
            </a:pPr>
            <a:r>
              <a:rPr lang="en-US" sz="2145">
                <a:solidFill>
                  <a:srgbClr val="B6D8E5"/>
                </a:solidFill>
                <a:latin typeface="Arial"/>
                <a:ea typeface="Arial"/>
                <a:cs typeface="Arial"/>
                <a:sym typeface="Arial"/>
              </a:rPr>
              <a:t>ficha educativa.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812959" y="8192167"/>
            <a:ext cx="16643795" cy="884110"/>
            <a:chOff x="0" y="0"/>
            <a:chExt cx="22191726" cy="117881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2191726" cy="1178814"/>
            </a:xfrm>
            <a:custGeom>
              <a:avLst/>
              <a:gdLst/>
              <a:ahLst/>
              <a:cxnLst/>
              <a:rect l="l" t="t" r="r" b="b"/>
              <a:pathLst>
                <a:path w="22191726" h="1178814">
                  <a:moveTo>
                    <a:pt x="0" y="243205"/>
                  </a:moveTo>
                  <a:cubicBezTo>
                    <a:pt x="0" y="108966"/>
                    <a:pt x="108966" y="0"/>
                    <a:pt x="243205" y="0"/>
                  </a:cubicBezTo>
                  <a:lnTo>
                    <a:pt x="21948521" y="0"/>
                  </a:lnTo>
                  <a:cubicBezTo>
                    <a:pt x="22082886" y="0"/>
                    <a:pt x="22191726" y="108966"/>
                    <a:pt x="22191726" y="243205"/>
                  </a:cubicBezTo>
                  <a:lnTo>
                    <a:pt x="22191726" y="935609"/>
                  </a:lnTo>
                  <a:cubicBezTo>
                    <a:pt x="22191726" y="1069975"/>
                    <a:pt x="22082761" y="1178814"/>
                    <a:pt x="21948521" y="1178814"/>
                  </a:cubicBezTo>
                  <a:lnTo>
                    <a:pt x="243205" y="1178814"/>
                  </a:lnTo>
                  <a:cubicBezTo>
                    <a:pt x="108966" y="1178814"/>
                    <a:pt x="0" y="1069848"/>
                    <a:pt x="0" y="935609"/>
                  </a:cubicBezTo>
                  <a:close/>
                </a:path>
              </a:pathLst>
            </a:custGeom>
            <a:solidFill>
              <a:srgbClr val="0B2238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289304" y="8421624"/>
            <a:ext cx="3730752" cy="329184"/>
            <a:chOff x="0" y="0"/>
            <a:chExt cx="4974336" cy="438912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974336" cy="438912"/>
            </a:xfrm>
            <a:custGeom>
              <a:avLst/>
              <a:gdLst/>
              <a:ahLst/>
              <a:cxnLst/>
              <a:rect l="l" t="t" r="r" b="b"/>
              <a:pathLst>
                <a:path w="4974336" h="438912">
                  <a:moveTo>
                    <a:pt x="0" y="0"/>
                  </a:moveTo>
                  <a:lnTo>
                    <a:pt x="4974336" y="0"/>
                  </a:lnTo>
                  <a:lnTo>
                    <a:pt x="497433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0830" b="-1708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9525"/>
              <a:ext cx="4974336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 clases objetivo</a:t>
              </a:r>
            </a:p>
          </p:txBody>
        </p:sp>
      </p:grpSp>
      <p:sp>
        <p:nvSpPr>
          <p:cNvPr id="82" name="AutoShape 82"/>
          <p:cNvSpPr/>
          <p:nvPr/>
        </p:nvSpPr>
        <p:spPr>
          <a:xfrm rot="5297100">
            <a:off x="4715494" y="8643176"/>
            <a:ext cx="636556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3" name="Group 83"/>
          <p:cNvGrpSpPr/>
          <p:nvPr/>
        </p:nvGrpSpPr>
        <p:grpSpPr>
          <a:xfrm>
            <a:off x="5596128" y="8407908"/>
            <a:ext cx="10698480" cy="370332"/>
            <a:chOff x="0" y="0"/>
            <a:chExt cx="14264640" cy="49377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4264639" cy="493776"/>
            </a:xfrm>
            <a:custGeom>
              <a:avLst/>
              <a:gdLst/>
              <a:ahLst/>
              <a:cxnLst/>
              <a:rect l="l" t="t" r="r" b="b"/>
              <a:pathLst>
                <a:path w="14264639" h="493776">
                  <a:moveTo>
                    <a:pt x="0" y="0"/>
                  </a:moveTo>
                  <a:lnTo>
                    <a:pt x="14264639" y="0"/>
                  </a:lnTo>
                  <a:lnTo>
                    <a:pt x="14264639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2901" b="-51290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9525"/>
              <a:ext cx="14264640" cy="5033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0"/>
                </a:lnSpc>
              </a:pPr>
              <a:r>
                <a:rPr lang="en-US" sz="232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+ 1 categoría «Otro / No reconocido»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4488"/>
            <a:chOff x="0" y="0"/>
            <a:chExt cx="24409400" cy="125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25984"/>
            </a:xfrm>
            <a:custGeom>
              <a:avLst/>
              <a:gdLst/>
              <a:ahLst/>
              <a:cxnLst/>
              <a:rect l="l" t="t" r="r" b="b"/>
              <a:pathLst>
                <a:path w="24409400" h="125984">
                  <a:moveTo>
                    <a:pt x="0" y="0"/>
                  </a:moveTo>
                  <a:lnTo>
                    <a:pt x="24409400" y="0"/>
                  </a:lnTo>
                  <a:lnTo>
                    <a:pt x="24409400" y="125984"/>
                  </a:lnTo>
                  <a:lnTo>
                    <a:pt x="0" y="125984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521208"/>
            <a:ext cx="11795760" cy="342900"/>
            <a:chOff x="0" y="0"/>
            <a:chExt cx="1572768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727680" cy="457200"/>
            </a:xfrm>
            <a:custGeom>
              <a:avLst/>
              <a:gdLst/>
              <a:ahLst/>
              <a:cxnLst/>
              <a:rect l="l" t="t" r="r" b="b"/>
              <a:pathLst>
                <a:path w="15727680" h="457200">
                  <a:moveTo>
                    <a:pt x="0" y="0"/>
                  </a:moveTo>
                  <a:lnTo>
                    <a:pt x="15727680" y="0"/>
                  </a:lnTo>
                  <a:lnTo>
                    <a:pt x="157276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285" b="-6202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572768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 / FUNCIONAMIENTO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4380" y="1124712"/>
            <a:ext cx="16802100" cy="795528"/>
            <a:chOff x="0" y="0"/>
            <a:chExt cx="22402800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02800" cy="1060704"/>
            </a:xfrm>
            <a:custGeom>
              <a:avLst/>
              <a:gdLst/>
              <a:ahLst/>
              <a:cxnLst/>
              <a:rect l="l" t="t" r="r" b="b"/>
              <a:pathLst>
                <a:path w="22402800" h="1060704">
                  <a:moveTo>
                    <a:pt x="0" y="0"/>
                  </a:moveTo>
                  <a:lnTo>
                    <a:pt x="22402800" y="0"/>
                  </a:lnTo>
                  <a:lnTo>
                    <a:pt x="224028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537" b="-361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402800" cy="10797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 la imagen a la confirmación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8096" y="2002536"/>
            <a:ext cx="16664940" cy="466344"/>
            <a:chOff x="0" y="0"/>
            <a:chExt cx="22219920" cy="6217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9920" cy="621792"/>
            </a:xfrm>
            <a:custGeom>
              <a:avLst/>
              <a:gdLst/>
              <a:ahLst/>
              <a:cxnLst/>
              <a:rect l="l" t="t" r="r" b="b"/>
              <a:pathLst>
                <a:path w="22219920" h="621792">
                  <a:moveTo>
                    <a:pt x="0" y="0"/>
                  </a:moveTo>
                  <a:lnTo>
                    <a:pt x="22219920" y="0"/>
                  </a:lnTo>
                  <a:lnTo>
                    <a:pt x="22219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6303" b="-646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2199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9CB9CB"/>
                  </a:solidFill>
                  <a:latin typeface="Arial"/>
                  <a:ea typeface="Arial"/>
                  <a:cs typeface="Arial"/>
                  <a:sym typeface="Arial"/>
                </a:rPr>
                <a:t>La IA predice en vivo; solo el usuario convierte la propuesta en un registro.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rot="3120">
            <a:off x="760476" y="9829610"/>
            <a:ext cx="16762486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95528" y="9930384"/>
            <a:ext cx="11658600" cy="205740"/>
            <a:chOff x="0" y="0"/>
            <a:chExt cx="15544800" cy="2743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44800" cy="274320"/>
            </a:xfrm>
            <a:custGeom>
              <a:avLst/>
              <a:gdLst/>
              <a:ahLst/>
              <a:cxnLst/>
              <a:rect l="l" t="t" r="r" b="b"/>
              <a:pathLst>
                <a:path w="15544800" h="274320">
                  <a:moveTo>
                    <a:pt x="0" y="0"/>
                  </a:moveTo>
                  <a:lnTo>
                    <a:pt x="15544800" y="0"/>
                  </a:lnTo>
                  <a:lnTo>
                    <a:pt x="15544800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4152" b="-10541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5544800" cy="293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47"/>
                </a:lnSpc>
              </a:pPr>
              <a:r>
                <a:rPr lang="en-US" sz="1289" b="1">
                  <a:solidFill>
                    <a:srgbClr val="9CB9C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AGENTE INTELIGENTE DE LABORATORIO QUÍMICO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294608" y="9916668"/>
            <a:ext cx="1248156" cy="233172"/>
            <a:chOff x="0" y="0"/>
            <a:chExt cx="1664208" cy="3108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64208" cy="310896"/>
            </a:xfrm>
            <a:custGeom>
              <a:avLst/>
              <a:gdLst/>
              <a:ahLst/>
              <a:cxnLst/>
              <a:rect l="l" t="t" r="r" b="b"/>
              <a:pathLst>
                <a:path w="1664208" h="310896">
                  <a:moveTo>
                    <a:pt x="0" y="0"/>
                  </a:moveTo>
                  <a:lnTo>
                    <a:pt x="1664208" y="0"/>
                  </a:lnTo>
                  <a:lnTo>
                    <a:pt x="166420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302" b="-543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664208" cy="329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 dirty="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 / 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82547" y="9962007"/>
            <a:ext cx="190500" cy="67056"/>
            <a:chOff x="0" y="0"/>
            <a:chExt cx="254000" cy="894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556867" y="9962007"/>
            <a:ext cx="190500" cy="67056"/>
            <a:chOff x="0" y="0"/>
            <a:chExt cx="254000" cy="894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831187" y="9962007"/>
            <a:ext cx="190500" cy="67056"/>
            <a:chOff x="0" y="0"/>
            <a:chExt cx="254000" cy="894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105507" y="9962007"/>
            <a:ext cx="190500" cy="67056"/>
            <a:chOff x="0" y="0"/>
            <a:chExt cx="254000" cy="894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379827" y="9962007"/>
            <a:ext cx="190500" cy="67056"/>
            <a:chOff x="0" y="0"/>
            <a:chExt cx="254000" cy="894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654147" y="9962007"/>
            <a:ext cx="190500" cy="67056"/>
            <a:chOff x="0" y="0"/>
            <a:chExt cx="254000" cy="894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16947" y="2774347"/>
            <a:ext cx="3298126" cy="2049970"/>
            <a:chOff x="0" y="0"/>
            <a:chExt cx="4397502" cy="273329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397502" cy="2733294"/>
            </a:xfrm>
            <a:custGeom>
              <a:avLst/>
              <a:gdLst/>
              <a:ahLst/>
              <a:cxnLst/>
              <a:rect l="l" t="t" r="r" b="b"/>
              <a:pathLst>
                <a:path w="4397502" h="2733294">
                  <a:moveTo>
                    <a:pt x="0" y="276987"/>
                  </a:moveTo>
                  <a:cubicBezTo>
                    <a:pt x="0" y="124079"/>
                    <a:pt x="124079" y="0"/>
                    <a:pt x="276987" y="0"/>
                  </a:cubicBezTo>
                  <a:lnTo>
                    <a:pt x="4120515" y="0"/>
                  </a:lnTo>
                  <a:cubicBezTo>
                    <a:pt x="4273550" y="0"/>
                    <a:pt x="4397502" y="124079"/>
                    <a:pt x="4397502" y="276987"/>
                  </a:cubicBezTo>
                  <a:lnTo>
                    <a:pt x="4397502" y="2456307"/>
                  </a:lnTo>
                  <a:cubicBezTo>
                    <a:pt x="4397502" y="2609342"/>
                    <a:pt x="4273423" y="2733294"/>
                    <a:pt x="4120515" y="2733294"/>
                  </a:cubicBezTo>
                  <a:lnTo>
                    <a:pt x="276987" y="2733294"/>
                  </a:lnTo>
                  <a:cubicBezTo>
                    <a:pt x="124079" y="2733294"/>
                    <a:pt x="0" y="2609215"/>
                    <a:pt x="0" y="2456307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0120" y="3072384"/>
            <a:ext cx="2921508" cy="342900"/>
            <a:chOff x="0" y="0"/>
            <a:chExt cx="3895344" cy="457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895344" cy="457200"/>
            </a:xfrm>
            <a:custGeom>
              <a:avLst/>
              <a:gdLst/>
              <a:ahLst/>
              <a:cxnLst/>
              <a:rect l="l" t="t" r="r" b="b"/>
              <a:pathLst>
                <a:path w="3895344" h="457200">
                  <a:moveTo>
                    <a:pt x="0" y="0"/>
                  </a:moveTo>
                  <a:lnTo>
                    <a:pt x="3895344" y="0"/>
                  </a:lnTo>
                  <a:lnTo>
                    <a:pt x="38953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012" b="-1160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3895344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ENTRADA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60120" y="3717036"/>
            <a:ext cx="2880360" cy="438912"/>
            <a:chOff x="0" y="0"/>
            <a:chExt cx="3840480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840480" cy="585216"/>
            </a:xfrm>
            <a:custGeom>
              <a:avLst/>
              <a:gdLst/>
              <a:ahLst/>
              <a:cxnLst/>
              <a:rect l="l" t="t" r="r" b="b"/>
              <a:pathLst>
                <a:path w="3840480" h="585216">
                  <a:moveTo>
                    <a:pt x="0" y="0"/>
                  </a:moveTo>
                  <a:lnTo>
                    <a:pt x="3840480" y="0"/>
                  </a:lnTo>
                  <a:lnTo>
                    <a:pt x="3840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870" b="-77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384048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Cámara / imagen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60120" y="4293108"/>
            <a:ext cx="2770632" cy="274320"/>
            <a:chOff x="0" y="0"/>
            <a:chExt cx="3694176" cy="3657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694176" cy="365760"/>
            </a:xfrm>
            <a:custGeom>
              <a:avLst/>
              <a:gdLst/>
              <a:ahLst/>
              <a:cxnLst/>
              <a:rect l="l" t="t" r="r" b="b"/>
              <a:pathLst>
                <a:path w="3694176" h="365760">
                  <a:moveTo>
                    <a:pt x="0" y="0"/>
                  </a:moveTo>
                  <a:lnTo>
                    <a:pt x="3694176" y="0"/>
                  </a:lnTo>
                  <a:lnTo>
                    <a:pt x="369417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8" b="-1467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369417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RGB 224 × 224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 rot="669540">
            <a:off x="4022169" y="3789807"/>
            <a:ext cx="226400" cy="0"/>
          </a:xfrm>
          <a:prstGeom prst="line">
            <a:avLst/>
          </a:prstGeom>
          <a:ln w="19050" cap="rnd">
            <a:solidFill>
              <a:srgbClr val="35E3D7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4" name="Group 44"/>
          <p:cNvGrpSpPr/>
          <p:nvPr/>
        </p:nvGrpSpPr>
        <p:grpSpPr>
          <a:xfrm>
            <a:off x="4269391" y="2774347"/>
            <a:ext cx="3298126" cy="2049970"/>
            <a:chOff x="0" y="0"/>
            <a:chExt cx="4397502" cy="273329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97502" cy="2733294"/>
            </a:xfrm>
            <a:custGeom>
              <a:avLst/>
              <a:gdLst/>
              <a:ahLst/>
              <a:cxnLst/>
              <a:rect l="l" t="t" r="r" b="b"/>
              <a:pathLst>
                <a:path w="4397502" h="2733294">
                  <a:moveTo>
                    <a:pt x="0" y="276987"/>
                  </a:moveTo>
                  <a:cubicBezTo>
                    <a:pt x="0" y="124079"/>
                    <a:pt x="124079" y="0"/>
                    <a:pt x="276987" y="0"/>
                  </a:cubicBezTo>
                  <a:lnTo>
                    <a:pt x="4120515" y="0"/>
                  </a:lnTo>
                  <a:cubicBezTo>
                    <a:pt x="4273550" y="0"/>
                    <a:pt x="4397502" y="124079"/>
                    <a:pt x="4397502" y="276987"/>
                  </a:cubicBezTo>
                  <a:lnTo>
                    <a:pt x="4397502" y="2456307"/>
                  </a:lnTo>
                  <a:cubicBezTo>
                    <a:pt x="4397502" y="2609342"/>
                    <a:pt x="4273423" y="2733294"/>
                    <a:pt x="4120515" y="2733294"/>
                  </a:cubicBezTo>
                  <a:lnTo>
                    <a:pt x="276987" y="2733294"/>
                  </a:lnTo>
                  <a:cubicBezTo>
                    <a:pt x="124079" y="2733294"/>
                    <a:pt x="0" y="2609215"/>
                    <a:pt x="0" y="2456307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512564" y="3072384"/>
            <a:ext cx="2921508" cy="342900"/>
            <a:chOff x="0" y="0"/>
            <a:chExt cx="3895344" cy="457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895344" cy="457200"/>
            </a:xfrm>
            <a:custGeom>
              <a:avLst/>
              <a:gdLst/>
              <a:ahLst/>
              <a:cxnLst/>
              <a:rect l="l" t="t" r="r" b="b"/>
              <a:pathLst>
                <a:path w="3895344" h="457200">
                  <a:moveTo>
                    <a:pt x="0" y="0"/>
                  </a:moveTo>
                  <a:lnTo>
                    <a:pt x="3895344" y="0"/>
                  </a:lnTo>
                  <a:lnTo>
                    <a:pt x="38953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012" b="-1160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3895344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CLASIFICACIÓN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512564" y="3717036"/>
            <a:ext cx="2880360" cy="438912"/>
            <a:chOff x="0" y="0"/>
            <a:chExt cx="3840480" cy="58521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840480" cy="585216"/>
            </a:xfrm>
            <a:custGeom>
              <a:avLst/>
              <a:gdLst/>
              <a:ahLst/>
              <a:cxnLst/>
              <a:rect l="l" t="t" r="r" b="b"/>
              <a:pathLst>
                <a:path w="3840480" h="585216">
                  <a:moveTo>
                    <a:pt x="0" y="0"/>
                  </a:moveTo>
                  <a:lnTo>
                    <a:pt x="3840480" y="0"/>
                  </a:lnTo>
                  <a:lnTo>
                    <a:pt x="3840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870" b="-77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384048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Modelo Keras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512564" y="4293108"/>
            <a:ext cx="2770632" cy="274320"/>
            <a:chOff x="0" y="0"/>
            <a:chExt cx="3694176" cy="3657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694176" cy="365760"/>
            </a:xfrm>
            <a:custGeom>
              <a:avLst/>
              <a:gdLst/>
              <a:ahLst/>
              <a:cxnLst/>
              <a:rect l="l" t="t" r="r" b="b"/>
              <a:pathLst>
                <a:path w="3694176" h="365760">
                  <a:moveTo>
                    <a:pt x="0" y="0"/>
                  </a:moveTo>
                  <a:lnTo>
                    <a:pt x="3694176" y="0"/>
                  </a:lnTo>
                  <a:lnTo>
                    <a:pt x="369417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8" b="-1467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369417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9 salidas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 rot="669540">
            <a:off x="7574613" y="3789807"/>
            <a:ext cx="226400" cy="0"/>
          </a:xfrm>
          <a:prstGeom prst="line">
            <a:avLst/>
          </a:prstGeom>
          <a:ln w="19050" cap="rnd">
            <a:solidFill>
              <a:srgbClr val="35E3D7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56" name="Group 56"/>
          <p:cNvGrpSpPr/>
          <p:nvPr/>
        </p:nvGrpSpPr>
        <p:grpSpPr>
          <a:xfrm>
            <a:off x="7821835" y="2774347"/>
            <a:ext cx="3298126" cy="2049970"/>
            <a:chOff x="0" y="0"/>
            <a:chExt cx="4397502" cy="273329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397502" cy="2733294"/>
            </a:xfrm>
            <a:custGeom>
              <a:avLst/>
              <a:gdLst/>
              <a:ahLst/>
              <a:cxnLst/>
              <a:rect l="l" t="t" r="r" b="b"/>
              <a:pathLst>
                <a:path w="4397502" h="2733294">
                  <a:moveTo>
                    <a:pt x="0" y="276987"/>
                  </a:moveTo>
                  <a:cubicBezTo>
                    <a:pt x="0" y="124079"/>
                    <a:pt x="124079" y="0"/>
                    <a:pt x="276987" y="0"/>
                  </a:cubicBezTo>
                  <a:lnTo>
                    <a:pt x="4120515" y="0"/>
                  </a:lnTo>
                  <a:cubicBezTo>
                    <a:pt x="4273550" y="0"/>
                    <a:pt x="4397502" y="124079"/>
                    <a:pt x="4397502" y="276987"/>
                  </a:cubicBezTo>
                  <a:lnTo>
                    <a:pt x="4397502" y="2456307"/>
                  </a:lnTo>
                  <a:cubicBezTo>
                    <a:pt x="4397502" y="2609342"/>
                    <a:pt x="4273423" y="2733294"/>
                    <a:pt x="4120515" y="2733294"/>
                  </a:cubicBezTo>
                  <a:lnTo>
                    <a:pt x="276987" y="2733294"/>
                  </a:lnTo>
                  <a:cubicBezTo>
                    <a:pt x="124079" y="2733294"/>
                    <a:pt x="0" y="2609215"/>
                    <a:pt x="0" y="2456307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065008" y="3072384"/>
            <a:ext cx="2921508" cy="342900"/>
            <a:chOff x="0" y="0"/>
            <a:chExt cx="3895344" cy="4572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895344" cy="457200"/>
            </a:xfrm>
            <a:custGeom>
              <a:avLst/>
              <a:gdLst/>
              <a:ahLst/>
              <a:cxnLst/>
              <a:rect l="l" t="t" r="r" b="b"/>
              <a:pathLst>
                <a:path w="3895344" h="457200">
                  <a:moveTo>
                    <a:pt x="0" y="0"/>
                  </a:moveTo>
                  <a:lnTo>
                    <a:pt x="3895344" y="0"/>
                  </a:lnTo>
                  <a:lnTo>
                    <a:pt x="38953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012" b="-1160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3895344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PREDICCIÓN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065008" y="3717036"/>
            <a:ext cx="2880360" cy="438912"/>
            <a:chOff x="0" y="0"/>
            <a:chExt cx="3840480" cy="585216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3840480" cy="585216"/>
            </a:xfrm>
            <a:custGeom>
              <a:avLst/>
              <a:gdLst/>
              <a:ahLst/>
              <a:cxnLst/>
              <a:rect l="l" t="t" r="r" b="b"/>
              <a:pathLst>
                <a:path w="3840480" h="585216">
                  <a:moveTo>
                    <a:pt x="0" y="0"/>
                  </a:moveTo>
                  <a:lnTo>
                    <a:pt x="3840480" y="0"/>
                  </a:lnTo>
                  <a:lnTo>
                    <a:pt x="3840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870" b="-77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384048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Clase y confianza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065008" y="4293108"/>
            <a:ext cx="2770632" cy="274320"/>
            <a:chOff x="0" y="0"/>
            <a:chExt cx="3694176" cy="3657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694176" cy="365760"/>
            </a:xfrm>
            <a:custGeom>
              <a:avLst/>
              <a:gdLst/>
              <a:ahLst/>
              <a:cxnLst/>
              <a:rect l="l" t="t" r="r" b="b"/>
              <a:pathLst>
                <a:path w="3694176" h="365760">
                  <a:moveTo>
                    <a:pt x="0" y="0"/>
                  </a:moveTo>
                  <a:lnTo>
                    <a:pt x="3694176" y="0"/>
                  </a:lnTo>
                  <a:lnTo>
                    <a:pt x="369417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8" b="-1467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369417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Top 3</a:t>
              </a:r>
            </a:p>
          </p:txBody>
        </p:sp>
      </p:grpSp>
      <p:sp>
        <p:nvSpPr>
          <p:cNvPr id="67" name="AutoShape 67"/>
          <p:cNvSpPr/>
          <p:nvPr/>
        </p:nvSpPr>
        <p:spPr>
          <a:xfrm rot="669540">
            <a:off x="11127057" y="3789807"/>
            <a:ext cx="226400" cy="0"/>
          </a:xfrm>
          <a:prstGeom prst="line">
            <a:avLst/>
          </a:prstGeom>
          <a:ln w="19050" cap="rnd">
            <a:solidFill>
              <a:srgbClr val="35E3D7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68" name="Group 68"/>
          <p:cNvGrpSpPr/>
          <p:nvPr/>
        </p:nvGrpSpPr>
        <p:grpSpPr>
          <a:xfrm>
            <a:off x="11374279" y="2774347"/>
            <a:ext cx="3298126" cy="2049970"/>
            <a:chOff x="0" y="0"/>
            <a:chExt cx="4397502" cy="273329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397502" cy="2733294"/>
            </a:xfrm>
            <a:custGeom>
              <a:avLst/>
              <a:gdLst/>
              <a:ahLst/>
              <a:cxnLst/>
              <a:rect l="l" t="t" r="r" b="b"/>
              <a:pathLst>
                <a:path w="4397502" h="2733294">
                  <a:moveTo>
                    <a:pt x="0" y="276987"/>
                  </a:moveTo>
                  <a:cubicBezTo>
                    <a:pt x="0" y="124079"/>
                    <a:pt x="124079" y="0"/>
                    <a:pt x="276987" y="0"/>
                  </a:cubicBezTo>
                  <a:lnTo>
                    <a:pt x="4120515" y="0"/>
                  </a:lnTo>
                  <a:cubicBezTo>
                    <a:pt x="4273550" y="0"/>
                    <a:pt x="4397502" y="124079"/>
                    <a:pt x="4397502" y="276987"/>
                  </a:cubicBezTo>
                  <a:lnTo>
                    <a:pt x="4397502" y="2456307"/>
                  </a:lnTo>
                  <a:cubicBezTo>
                    <a:pt x="4397502" y="2609342"/>
                    <a:pt x="4273423" y="2733294"/>
                    <a:pt x="4120515" y="2733294"/>
                  </a:cubicBezTo>
                  <a:lnTo>
                    <a:pt x="276987" y="2733294"/>
                  </a:lnTo>
                  <a:cubicBezTo>
                    <a:pt x="124079" y="2733294"/>
                    <a:pt x="0" y="2609215"/>
                    <a:pt x="0" y="2456307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1617452" y="3072384"/>
            <a:ext cx="2921508" cy="342900"/>
            <a:chOff x="0" y="0"/>
            <a:chExt cx="3895344" cy="45720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895344" cy="457200"/>
            </a:xfrm>
            <a:custGeom>
              <a:avLst/>
              <a:gdLst/>
              <a:ahLst/>
              <a:cxnLst/>
              <a:rect l="l" t="t" r="r" b="b"/>
              <a:pathLst>
                <a:path w="3895344" h="457200">
                  <a:moveTo>
                    <a:pt x="0" y="0"/>
                  </a:moveTo>
                  <a:lnTo>
                    <a:pt x="3895344" y="0"/>
                  </a:lnTo>
                  <a:lnTo>
                    <a:pt x="38953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012" b="-1160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3895344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ESTABILIZACIÓN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617452" y="3717036"/>
            <a:ext cx="2880360" cy="438912"/>
            <a:chOff x="0" y="0"/>
            <a:chExt cx="3840480" cy="58521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3840480" cy="585216"/>
            </a:xfrm>
            <a:custGeom>
              <a:avLst/>
              <a:gdLst/>
              <a:ahLst/>
              <a:cxnLst/>
              <a:rect l="l" t="t" r="r" b="b"/>
              <a:pathLst>
                <a:path w="3840480" h="585216">
                  <a:moveTo>
                    <a:pt x="0" y="0"/>
                  </a:moveTo>
                  <a:lnTo>
                    <a:pt x="3840480" y="0"/>
                  </a:lnTo>
                  <a:lnTo>
                    <a:pt x="3840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870" b="-77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384048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Decisión temporal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617452" y="4293108"/>
            <a:ext cx="2770632" cy="274320"/>
            <a:chOff x="0" y="0"/>
            <a:chExt cx="3694176" cy="36576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694176" cy="365760"/>
            </a:xfrm>
            <a:custGeom>
              <a:avLst/>
              <a:gdLst/>
              <a:ahLst/>
              <a:cxnLst/>
              <a:rect l="l" t="t" r="r" b="b"/>
              <a:pathLst>
                <a:path w="3694176" h="365760">
                  <a:moveTo>
                    <a:pt x="0" y="0"/>
                  </a:moveTo>
                  <a:lnTo>
                    <a:pt x="3694176" y="0"/>
                  </a:lnTo>
                  <a:lnTo>
                    <a:pt x="369417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8" b="-1467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369417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Menos oscilaciones</a:t>
              </a:r>
            </a:p>
          </p:txBody>
        </p:sp>
      </p:grpSp>
      <p:sp>
        <p:nvSpPr>
          <p:cNvPr id="79" name="AutoShape 79"/>
          <p:cNvSpPr/>
          <p:nvPr/>
        </p:nvSpPr>
        <p:spPr>
          <a:xfrm rot="669540">
            <a:off x="14679501" y="3789807"/>
            <a:ext cx="226400" cy="0"/>
          </a:xfrm>
          <a:prstGeom prst="line">
            <a:avLst/>
          </a:prstGeom>
          <a:ln w="19050" cap="rnd">
            <a:solidFill>
              <a:srgbClr val="35E3D7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80" name="Group 80"/>
          <p:cNvGrpSpPr/>
          <p:nvPr/>
        </p:nvGrpSpPr>
        <p:grpSpPr>
          <a:xfrm>
            <a:off x="14926723" y="2774347"/>
            <a:ext cx="3298126" cy="2049970"/>
            <a:chOff x="0" y="0"/>
            <a:chExt cx="4397502" cy="273329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397502" cy="2733294"/>
            </a:xfrm>
            <a:custGeom>
              <a:avLst/>
              <a:gdLst/>
              <a:ahLst/>
              <a:cxnLst/>
              <a:rect l="l" t="t" r="r" b="b"/>
              <a:pathLst>
                <a:path w="4397502" h="2733294">
                  <a:moveTo>
                    <a:pt x="0" y="276987"/>
                  </a:moveTo>
                  <a:cubicBezTo>
                    <a:pt x="0" y="124079"/>
                    <a:pt x="124079" y="0"/>
                    <a:pt x="276987" y="0"/>
                  </a:cubicBezTo>
                  <a:lnTo>
                    <a:pt x="4120515" y="0"/>
                  </a:lnTo>
                  <a:cubicBezTo>
                    <a:pt x="4273550" y="0"/>
                    <a:pt x="4397502" y="124079"/>
                    <a:pt x="4397502" y="276987"/>
                  </a:cubicBezTo>
                  <a:lnTo>
                    <a:pt x="4397502" y="2456307"/>
                  </a:lnTo>
                  <a:cubicBezTo>
                    <a:pt x="4397502" y="2609342"/>
                    <a:pt x="4273423" y="2733294"/>
                    <a:pt x="4120515" y="2733294"/>
                  </a:cubicBezTo>
                  <a:lnTo>
                    <a:pt x="276987" y="2733294"/>
                  </a:lnTo>
                  <a:cubicBezTo>
                    <a:pt x="124079" y="2733294"/>
                    <a:pt x="0" y="2609215"/>
                    <a:pt x="0" y="2456307"/>
                  </a:cubicBezTo>
                  <a:close/>
                </a:path>
              </a:pathLst>
            </a:custGeom>
            <a:solidFill>
              <a:srgbClr val="12515A"/>
            </a:solidFill>
            <a:ln w="20003" cap="sq">
              <a:solidFill>
                <a:srgbClr val="35E3D7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5169896" y="3072384"/>
            <a:ext cx="2921508" cy="342900"/>
            <a:chOff x="0" y="0"/>
            <a:chExt cx="3895344" cy="45720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895344" cy="457200"/>
            </a:xfrm>
            <a:custGeom>
              <a:avLst/>
              <a:gdLst/>
              <a:ahLst/>
              <a:cxnLst/>
              <a:rect l="l" t="t" r="r" b="b"/>
              <a:pathLst>
                <a:path w="3895344" h="457200">
                  <a:moveTo>
                    <a:pt x="0" y="0"/>
                  </a:moveTo>
                  <a:lnTo>
                    <a:pt x="3895344" y="0"/>
                  </a:lnTo>
                  <a:lnTo>
                    <a:pt x="38953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6012" b="-1160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3895344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A1FCF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USUARIO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5169896" y="3717036"/>
            <a:ext cx="2880360" cy="438912"/>
            <a:chOff x="0" y="0"/>
            <a:chExt cx="3840480" cy="585216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840480" cy="585216"/>
            </a:xfrm>
            <a:custGeom>
              <a:avLst/>
              <a:gdLst/>
              <a:ahLst/>
              <a:cxnLst/>
              <a:rect l="l" t="t" r="r" b="b"/>
              <a:pathLst>
                <a:path w="3840480" h="585216">
                  <a:moveTo>
                    <a:pt x="0" y="0"/>
                  </a:moveTo>
                  <a:lnTo>
                    <a:pt x="3840480" y="0"/>
                  </a:lnTo>
                  <a:lnTo>
                    <a:pt x="3840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7870" b="-7787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0" y="-9525"/>
              <a:ext cx="384048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0"/>
                </a:lnSpc>
              </a:pPr>
              <a:r>
                <a:rPr lang="en-US" sz="247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Confirmación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5169896" y="4293108"/>
            <a:ext cx="2770632" cy="274320"/>
            <a:chOff x="0" y="0"/>
            <a:chExt cx="3694176" cy="36576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3694176" cy="365760"/>
            </a:xfrm>
            <a:custGeom>
              <a:avLst/>
              <a:gdLst/>
              <a:ahLst/>
              <a:cxnLst/>
              <a:rect l="l" t="t" r="r" b="b"/>
              <a:pathLst>
                <a:path w="3694176" h="365760">
                  <a:moveTo>
                    <a:pt x="0" y="0"/>
                  </a:moveTo>
                  <a:lnTo>
                    <a:pt x="3694176" y="0"/>
                  </a:lnTo>
                  <a:lnTo>
                    <a:pt x="369417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8" b="-14679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0" y="-19050"/>
              <a:ext cx="369417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8"/>
                </a:lnSpc>
              </a:pPr>
              <a:r>
                <a:rPr lang="en-US" sz="1739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Acción manual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854107" y="5270659"/>
            <a:ext cx="6096190" cy="1021270"/>
            <a:chOff x="0" y="0"/>
            <a:chExt cx="8128254" cy="1361694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8128253" cy="1361694"/>
            </a:xfrm>
            <a:custGeom>
              <a:avLst/>
              <a:gdLst/>
              <a:ahLst/>
              <a:cxnLst/>
              <a:rect l="l" t="t" r="r" b="b"/>
              <a:pathLst>
                <a:path w="8128253" h="1361694">
                  <a:moveTo>
                    <a:pt x="0" y="317119"/>
                  </a:moveTo>
                  <a:cubicBezTo>
                    <a:pt x="0" y="141986"/>
                    <a:pt x="141986" y="0"/>
                    <a:pt x="317119" y="0"/>
                  </a:cubicBezTo>
                  <a:lnTo>
                    <a:pt x="7811135" y="0"/>
                  </a:lnTo>
                  <a:cubicBezTo>
                    <a:pt x="7986268" y="0"/>
                    <a:pt x="8128253" y="141986"/>
                    <a:pt x="8128253" y="317119"/>
                  </a:cubicBezTo>
                  <a:lnTo>
                    <a:pt x="8128253" y="1044575"/>
                  </a:lnTo>
                  <a:cubicBezTo>
                    <a:pt x="8128253" y="1219708"/>
                    <a:pt x="7986268" y="1361694"/>
                    <a:pt x="7811135" y="1361694"/>
                  </a:cubicBezTo>
                  <a:lnTo>
                    <a:pt x="317119" y="1361694"/>
                  </a:lnTo>
                  <a:cubicBezTo>
                    <a:pt x="141986" y="1361694"/>
                    <a:pt x="0" y="1219708"/>
                    <a:pt x="0" y="1044575"/>
                  </a:cubicBezTo>
                  <a:close/>
                </a:path>
              </a:pathLst>
            </a:custGeom>
            <a:solidFill>
              <a:srgbClr val="0B2238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197483" y="5614035"/>
            <a:ext cx="293370" cy="293370"/>
            <a:chOff x="0" y="0"/>
            <a:chExt cx="391160" cy="39116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91160" cy="391160"/>
            </a:xfrm>
            <a:custGeom>
              <a:avLst/>
              <a:gdLst/>
              <a:ahLst/>
              <a:cxnLst/>
              <a:rect l="l" t="t" r="r" b="b"/>
              <a:pathLst>
                <a:path w="391160" h="391160">
                  <a:moveTo>
                    <a:pt x="0" y="195580"/>
                  </a:moveTo>
                  <a:cubicBezTo>
                    <a:pt x="0" y="87503"/>
                    <a:pt x="87503" y="0"/>
                    <a:pt x="195580" y="0"/>
                  </a:cubicBezTo>
                  <a:cubicBezTo>
                    <a:pt x="303657" y="0"/>
                    <a:pt x="391160" y="87503"/>
                    <a:pt x="391160" y="195580"/>
                  </a:cubicBezTo>
                  <a:cubicBezTo>
                    <a:pt x="391160" y="303657"/>
                    <a:pt x="303657" y="391160"/>
                    <a:pt x="195580" y="391160"/>
                  </a:cubicBezTo>
                  <a:cubicBezTo>
                    <a:pt x="87503" y="391160"/>
                    <a:pt x="0" y="303657"/>
                    <a:pt x="0" y="195580"/>
                  </a:cubicBezTo>
                  <a:close/>
                </a:path>
              </a:pathLst>
            </a:custGeom>
            <a:solidFill>
              <a:srgbClr val="81E7A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1700784" y="5541264"/>
            <a:ext cx="4841748" cy="452628"/>
            <a:chOff x="0" y="0"/>
            <a:chExt cx="6455664" cy="603504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6455664" cy="603504"/>
            </a:xfrm>
            <a:custGeom>
              <a:avLst/>
              <a:gdLst/>
              <a:ahLst/>
              <a:cxnLst/>
              <a:rect l="l" t="t" r="r" b="b"/>
              <a:pathLst>
                <a:path w="6455664" h="603504">
                  <a:moveTo>
                    <a:pt x="0" y="0"/>
                  </a:moveTo>
                  <a:lnTo>
                    <a:pt x="6455664" y="0"/>
                  </a:lnTo>
                  <a:lnTo>
                    <a:pt x="645566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8430" b="-15843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0" y="-9525"/>
              <a:ext cx="6455664" cy="61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 VIVO: predice, NO registra</a:t>
              </a:r>
            </a:p>
          </p:txBody>
        </p:sp>
      </p:grpSp>
      <p:sp>
        <p:nvSpPr>
          <p:cNvPr id="98" name="AutoShape 98"/>
          <p:cNvSpPr/>
          <p:nvPr/>
        </p:nvSpPr>
        <p:spPr>
          <a:xfrm rot="168780">
            <a:off x="6979549" y="5778627"/>
            <a:ext cx="621020" cy="0"/>
          </a:xfrm>
          <a:prstGeom prst="line">
            <a:avLst/>
          </a:prstGeom>
          <a:ln w="19050" cap="rnd">
            <a:solidFill>
              <a:srgbClr val="35E3D7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99" name="Group 99"/>
          <p:cNvGrpSpPr/>
          <p:nvPr/>
        </p:nvGrpSpPr>
        <p:grpSpPr>
          <a:xfrm>
            <a:off x="7740015" y="5257419"/>
            <a:ext cx="9579102" cy="1047750"/>
            <a:chOff x="0" y="0"/>
            <a:chExt cx="12772136" cy="1397000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2772137" cy="1397000"/>
            </a:xfrm>
            <a:custGeom>
              <a:avLst/>
              <a:gdLst/>
              <a:ahLst/>
              <a:cxnLst/>
              <a:rect l="l" t="t" r="r" b="b"/>
              <a:pathLst>
                <a:path w="12772137" h="139700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12436856" y="0"/>
                  </a:lnTo>
                  <a:cubicBezTo>
                    <a:pt x="12622023" y="0"/>
                    <a:pt x="12772137" y="150114"/>
                    <a:pt x="12772137" y="335280"/>
                  </a:cubicBezTo>
                  <a:lnTo>
                    <a:pt x="12772137" y="1061720"/>
                  </a:lnTo>
                  <a:cubicBezTo>
                    <a:pt x="12772137" y="1246886"/>
                    <a:pt x="12622023" y="1397000"/>
                    <a:pt x="12436856" y="1397000"/>
                  </a:cubicBezTo>
                  <a:lnTo>
                    <a:pt x="335280" y="1397000"/>
                  </a:lnTo>
                  <a:cubicBezTo>
                    <a:pt x="150114" y="1397000"/>
                    <a:pt x="0" y="1246886"/>
                    <a:pt x="0" y="1061720"/>
                  </a:cubicBez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8284464" y="5486400"/>
            <a:ext cx="8558784" cy="507492"/>
            <a:chOff x="0" y="0"/>
            <a:chExt cx="11411712" cy="676656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11411712" cy="676656"/>
            </a:xfrm>
            <a:custGeom>
              <a:avLst/>
              <a:gdLst/>
              <a:ahLst/>
              <a:cxnLst/>
              <a:rect l="l" t="t" r="r" b="b"/>
              <a:pathLst>
                <a:path w="11411712" h="676656">
                  <a:moveTo>
                    <a:pt x="0" y="0"/>
                  </a:moveTo>
                  <a:lnTo>
                    <a:pt x="11411712" y="0"/>
                  </a:lnTo>
                  <a:lnTo>
                    <a:pt x="11411712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8612" b="-2786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11411712" cy="695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10"/>
                </a:lnSpc>
              </a:pPr>
              <a:r>
                <a:rPr lang="en-US" sz="2925" b="1">
                  <a:solidFill>
                    <a:srgbClr val="07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CONGELAR Y CONFIRMAR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881539" y="6944011"/>
            <a:ext cx="5478970" cy="1693354"/>
            <a:chOff x="0" y="0"/>
            <a:chExt cx="7305294" cy="225780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7305294" cy="2257806"/>
            </a:xfrm>
            <a:custGeom>
              <a:avLst/>
              <a:gdLst/>
              <a:ahLst/>
              <a:cxnLst/>
              <a:rect l="l" t="t" r="r" b="b"/>
              <a:pathLst>
                <a:path w="7305294" h="2257806">
                  <a:moveTo>
                    <a:pt x="0" y="240538"/>
                  </a:moveTo>
                  <a:cubicBezTo>
                    <a:pt x="0" y="107696"/>
                    <a:pt x="107696" y="0"/>
                    <a:pt x="240538" y="0"/>
                  </a:cubicBezTo>
                  <a:lnTo>
                    <a:pt x="7064756" y="0"/>
                  </a:lnTo>
                  <a:cubicBezTo>
                    <a:pt x="7197599" y="0"/>
                    <a:pt x="7305294" y="107696"/>
                    <a:pt x="7305294" y="240538"/>
                  </a:cubicBezTo>
                  <a:lnTo>
                    <a:pt x="7305294" y="2017268"/>
                  </a:lnTo>
                  <a:cubicBezTo>
                    <a:pt x="7305294" y="2150110"/>
                    <a:pt x="7197599" y="2257806"/>
                    <a:pt x="7064756" y="2257806"/>
                  </a:cubicBezTo>
                  <a:lnTo>
                    <a:pt x="240538" y="2257806"/>
                  </a:lnTo>
                  <a:cubicBezTo>
                    <a:pt x="107696" y="2257806"/>
                    <a:pt x="0" y="2150110"/>
                    <a:pt x="0" y="2017268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1110996" y="7283196"/>
            <a:ext cx="644652" cy="452628"/>
            <a:chOff x="0" y="0"/>
            <a:chExt cx="859536" cy="603504"/>
          </a:xfrm>
        </p:grpSpPr>
        <p:sp>
          <p:nvSpPr>
            <p:cNvPr id="107" name="Freeform 107"/>
            <p:cNvSpPr/>
            <p:nvPr/>
          </p:nvSpPr>
          <p:spPr>
            <a:xfrm>
              <a:off x="0" y="0"/>
              <a:ext cx="859536" cy="603504"/>
            </a:xfrm>
            <a:custGeom>
              <a:avLst/>
              <a:gdLst/>
              <a:ahLst/>
              <a:cxnLst/>
              <a:rect l="l" t="t" r="r" b="b"/>
              <a:pathLst>
                <a:path w="859536" h="603504">
                  <a:moveTo>
                    <a:pt x="0" y="0"/>
                  </a:moveTo>
                  <a:lnTo>
                    <a:pt x="859536" y="0"/>
                  </a:lnTo>
                  <a:lnTo>
                    <a:pt x="859536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085" r="-400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0" y="-19050"/>
              <a:ext cx="859536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1975104" y="7187184"/>
            <a:ext cx="4114800" cy="493776"/>
            <a:chOff x="0" y="0"/>
            <a:chExt cx="5486400" cy="658368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5486400" cy="658368"/>
            </a:xfrm>
            <a:custGeom>
              <a:avLst/>
              <a:gdLst/>
              <a:ahLst/>
              <a:cxnLst/>
              <a:rect l="l" t="t" r="r" b="b"/>
              <a:pathLst>
                <a:path w="5486400" h="658368">
                  <a:moveTo>
                    <a:pt x="0" y="0"/>
                  </a:moveTo>
                  <a:lnTo>
                    <a:pt x="5486400" y="0"/>
                  </a:lnTo>
                  <a:lnTo>
                    <a:pt x="5486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2375" b="-1123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0" y="-19050"/>
              <a:ext cx="54864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Imagen y resultado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975104" y="7763256"/>
            <a:ext cx="4059936" cy="411480"/>
            <a:chOff x="0" y="0"/>
            <a:chExt cx="5413248" cy="548640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5413248" cy="548640"/>
            </a:xfrm>
            <a:custGeom>
              <a:avLst/>
              <a:gdLst/>
              <a:ahLst/>
              <a:cxnLst/>
              <a:rect l="l" t="t" r="r" b="b"/>
              <a:pathLst>
                <a:path w="5413248" h="548640">
                  <a:moveTo>
                    <a:pt x="0" y="0"/>
                  </a:moveTo>
                  <a:lnTo>
                    <a:pt x="5413248" y="0"/>
                  </a:lnTo>
                  <a:lnTo>
                    <a:pt x="54132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2252" b="-1422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0" y="-19050"/>
              <a:ext cx="5413248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quedan fijos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6628543" y="6944011"/>
            <a:ext cx="5478970" cy="1693354"/>
            <a:chOff x="0" y="0"/>
            <a:chExt cx="7305294" cy="2257806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7305294" cy="2257806"/>
            </a:xfrm>
            <a:custGeom>
              <a:avLst/>
              <a:gdLst/>
              <a:ahLst/>
              <a:cxnLst/>
              <a:rect l="l" t="t" r="r" b="b"/>
              <a:pathLst>
                <a:path w="7305294" h="2257806">
                  <a:moveTo>
                    <a:pt x="0" y="240538"/>
                  </a:moveTo>
                  <a:cubicBezTo>
                    <a:pt x="0" y="107696"/>
                    <a:pt x="107696" y="0"/>
                    <a:pt x="240538" y="0"/>
                  </a:cubicBezTo>
                  <a:lnTo>
                    <a:pt x="7064756" y="0"/>
                  </a:lnTo>
                  <a:cubicBezTo>
                    <a:pt x="7197599" y="0"/>
                    <a:pt x="7305294" y="107696"/>
                    <a:pt x="7305294" y="240538"/>
                  </a:cubicBezTo>
                  <a:lnTo>
                    <a:pt x="7305294" y="2017268"/>
                  </a:lnTo>
                  <a:cubicBezTo>
                    <a:pt x="7305294" y="2150110"/>
                    <a:pt x="7197599" y="2257806"/>
                    <a:pt x="7064756" y="2257806"/>
                  </a:cubicBezTo>
                  <a:lnTo>
                    <a:pt x="240538" y="2257806"/>
                  </a:lnTo>
                  <a:cubicBezTo>
                    <a:pt x="107696" y="2257806"/>
                    <a:pt x="0" y="2150110"/>
                    <a:pt x="0" y="2017268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6858000" y="7283196"/>
            <a:ext cx="644652" cy="452628"/>
            <a:chOff x="0" y="0"/>
            <a:chExt cx="859536" cy="60350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859536" cy="603504"/>
            </a:xfrm>
            <a:custGeom>
              <a:avLst/>
              <a:gdLst/>
              <a:ahLst/>
              <a:cxnLst/>
              <a:rect l="l" t="t" r="r" b="b"/>
              <a:pathLst>
                <a:path w="859536" h="603504">
                  <a:moveTo>
                    <a:pt x="0" y="0"/>
                  </a:moveTo>
                  <a:lnTo>
                    <a:pt x="859536" y="0"/>
                  </a:lnTo>
                  <a:lnTo>
                    <a:pt x="859536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085" r="-400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-19050"/>
              <a:ext cx="859536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7722108" y="7187184"/>
            <a:ext cx="4114800" cy="493776"/>
            <a:chOff x="0" y="0"/>
            <a:chExt cx="5486400" cy="658368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5486400" cy="658368"/>
            </a:xfrm>
            <a:custGeom>
              <a:avLst/>
              <a:gdLst/>
              <a:ahLst/>
              <a:cxnLst/>
              <a:rect l="l" t="t" r="r" b="b"/>
              <a:pathLst>
                <a:path w="5486400" h="658368">
                  <a:moveTo>
                    <a:pt x="0" y="0"/>
                  </a:moveTo>
                  <a:lnTo>
                    <a:pt x="5486400" y="0"/>
                  </a:lnTo>
                  <a:lnTo>
                    <a:pt x="5486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2375" b="-1123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-19050"/>
              <a:ext cx="54864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Ficha + narración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7722108" y="7763256"/>
            <a:ext cx="4059936" cy="411480"/>
            <a:chOff x="0" y="0"/>
            <a:chExt cx="5413248" cy="548640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5413248" cy="548640"/>
            </a:xfrm>
            <a:custGeom>
              <a:avLst/>
              <a:gdLst/>
              <a:ahLst/>
              <a:cxnLst/>
              <a:rect l="l" t="t" r="r" b="b"/>
              <a:pathLst>
                <a:path w="5413248" h="548640">
                  <a:moveTo>
                    <a:pt x="0" y="0"/>
                  </a:moveTo>
                  <a:lnTo>
                    <a:pt x="5413248" y="0"/>
                  </a:lnTo>
                  <a:lnTo>
                    <a:pt x="54132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2252" b="-1422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0" y="-19050"/>
              <a:ext cx="5413248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en español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2375547" y="6944011"/>
            <a:ext cx="5478970" cy="1693354"/>
            <a:chOff x="0" y="0"/>
            <a:chExt cx="7305294" cy="2257806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7305294" cy="2257806"/>
            </a:xfrm>
            <a:custGeom>
              <a:avLst/>
              <a:gdLst/>
              <a:ahLst/>
              <a:cxnLst/>
              <a:rect l="l" t="t" r="r" b="b"/>
              <a:pathLst>
                <a:path w="7305294" h="2257806">
                  <a:moveTo>
                    <a:pt x="0" y="240538"/>
                  </a:moveTo>
                  <a:cubicBezTo>
                    <a:pt x="0" y="107696"/>
                    <a:pt x="107696" y="0"/>
                    <a:pt x="240538" y="0"/>
                  </a:cubicBezTo>
                  <a:lnTo>
                    <a:pt x="7064756" y="0"/>
                  </a:lnTo>
                  <a:cubicBezTo>
                    <a:pt x="7197599" y="0"/>
                    <a:pt x="7305294" y="107696"/>
                    <a:pt x="7305294" y="240538"/>
                  </a:cubicBezTo>
                  <a:lnTo>
                    <a:pt x="7305294" y="2017268"/>
                  </a:lnTo>
                  <a:cubicBezTo>
                    <a:pt x="7305294" y="2150110"/>
                    <a:pt x="7197599" y="2257806"/>
                    <a:pt x="7064756" y="2257806"/>
                  </a:cubicBezTo>
                  <a:lnTo>
                    <a:pt x="240538" y="2257806"/>
                  </a:lnTo>
                  <a:cubicBezTo>
                    <a:pt x="107696" y="2257806"/>
                    <a:pt x="0" y="2150110"/>
                    <a:pt x="0" y="2017268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12605004" y="7283196"/>
            <a:ext cx="644652" cy="452628"/>
            <a:chOff x="0" y="0"/>
            <a:chExt cx="859536" cy="603504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859536" cy="603504"/>
            </a:xfrm>
            <a:custGeom>
              <a:avLst/>
              <a:gdLst/>
              <a:ahLst/>
              <a:cxnLst/>
              <a:rect l="l" t="t" r="r" b="b"/>
              <a:pathLst>
                <a:path w="859536" h="603504">
                  <a:moveTo>
                    <a:pt x="0" y="0"/>
                  </a:moveTo>
                  <a:lnTo>
                    <a:pt x="859536" y="0"/>
                  </a:lnTo>
                  <a:lnTo>
                    <a:pt x="859536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0085" r="-400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0" y="-19050"/>
              <a:ext cx="859536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19"/>
                </a:lnSpc>
              </a:pPr>
              <a:r>
                <a:rPr lang="en-US" sz="285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13469112" y="7187184"/>
            <a:ext cx="4114800" cy="493776"/>
            <a:chOff x="0" y="0"/>
            <a:chExt cx="5486400" cy="658368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5486400" cy="658368"/>
            </a:xfrm>
            <a:custGeom>
              <a:avLst/>
              <a:gdLst/>
              <a:ahLst/>
              <a:cxnLst/>
              <a:rect l="l" t="t" r="r" b="b"/>
              <a:pathLst>
                <a:path w="5486400" h="658368">
                  <a:moveTo>
                    <a:pt x="0" y="0"/>
                  </a:moveTo>
                  <a:lnTo>
                    <a:pt x="5486400" y="0"/>
                  </a:lnTo>
                  <a:lnTo>
                    <a:pt x="54864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2375" b="-11237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0" y="-19050"/>
              <a:ext cx="54864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72"/>
                </a:lnSpc>
              </a:pPr>
              <a:r>
                <a:rPr lang="en-US" sz="231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Historial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3469112" y="7763256"/>
            <a:ext cx="4059936" cy="411480"/>
            <a:chOff x="0" y="0"/>
            <a:chExt cx="5413248" cy="548640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5413248" cy="548640"/>
            </a:xfrm>
            <a:custGeom>
              <a:avLst/>
              <a:gdLst/>
              <a:ahLst/>
              <a:cxnLst/>
              <a:rect l="l" t="t" r="r" b="b"/>
              <a:pathLst>
                <a:path w="5413248" h="548640">
                  <a:moveTo>
                    <a:pt x="0" y="0"/>
                  </a:moveTo>
                  <a:lnTo>
                    <a:pt x="5413248" y="0"/>
                  </a:lnTo>
                  <a:lnTo>
                    <a:pt x="5413248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2252" b="-1422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0" y="-19050"/>
              <a:ext cx="5413248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solo confirmados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4379119" y="9001411"/>
            <a:ext cx="9538906" cy="500062"/>
            <a:chOff x="0" y="0"/>
            <a:chExt cx="12718542" cy="66675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12718542" cy="666750"/>
            </a:xfrm>
            <a:custGeom>
              <a:avLst/>
              <a:gdLst/>
              <a:ahLst/>
              <a:cxnLst/>
              <a:rect l="l" t="t" r="r" b="b"/>
              <a:pathLst>
                <a:path w="12718542" h="666750">
                  <a:moveTo>
                    <a:pt x="0" y="333375"/>
                  </a:moveTo>
                  <a:cubicBezTo>
                    <a:pt x="0" y="149225"/>
                    <a:pt x="149225" y="0"/>
                    <a:pt x="333375" y="0"/>
                  </a:cubicBezTo>
                  <a:lnTo>
                    <a:pt x="12385167" y="0"/>
                  </a:lnTo>
                  <a:cubicBezTo>
                    <a:pt x="12569317" y="0"/>
                    <a:pt x="12718542" y="149225"/>
                    <a:pt x="12718542" y="333375"/>
                  </a:cubicBezTo>
                  <a:cubicBezTo>
                    <a:pt x="12718542" y="517525"/>
                    <a:pt x="12569317" y="666750"/>
                    <a:pt x="12385167" y="666750"/>
                  </a:cubicBezTo>
                  <a:lnTo>
                    <a:pt x="333375" y="666750"/>
                  </a:lnTo>
                  <a:cubicBezTo>
                    <a:pt x="149225" y="666750"/>
                    <a:pt x="0" y="517525"/>
                    <a:pt x="0" y="333375"/>
                  </a:cubicBezTo>
                  <a:close/>
                </a:path>
              </a:pathLst>
            </a:custGeom>
            <a:solidFill>
              <a:srgbClr val="0B2238"/>
            </a:solidFill>
            <a:ln w="20003" cap="sq">
              <a:solidFill>
                <a:srgbClr val="0B2238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9" name="Group 139"/>
          <p:cNvGrpSpPr/>
          <p:nvPr/>
        </p:nvGrpSpPr>
        <p:grpSpPr>
          <a:xfrm>
            <a:off x="4567428" y="9066276"/>
            <a:ext cx="9162288" cy="329184"/>
            <a:chOff x="0" y="0"/>
            <a:chExt cx="12216384" cy="438912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12216384" cy="438912"/>
            </a:xfrm>
            <a:custGeom>
              <a:avLst/>
              <a:gdLst/>
              <a:ahLst/>
              <a:cxnLst/>
              <a:rect l="l" t="t" r="r" b="b"/>
              <a:pathLst>
                <a:path w="12216384" h="438912">
                  <a:moveTo>
                    <a:pt x="0" y="0"/>
                  </a:moveTo>
                  <a:lnTo>
                    <a:pt x="12216384" y="0"/>
                  </a:lnTo>
                  <a:lnTo>
                    <a:pt x="1221638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92333" b="-49233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0" y="-19050"/>
              <a:ext cx="12216384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44"/>
                </a:lnSpc>
              </a:pPr>
              <a:r>
                <a:rPr lang="en-US" sz="1620" b="1">
                  <a:solidFill>
                    <a:srgbClr val="9CB9C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 CLASES OBJETIVO  +  «OTRO / NO RECONOCIDO»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4488"/>
            <a:chOff x="0" y="0"/>
            <a:chExt cx="24409400" cy="125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25984"/>
            </a:xfrm>
            <a:custGeom>
              <a:avLst/>
              <a:gdLst/>
              <a:ahLst/>
              <a:cxnLst/>
              <a:rect l="l" t="t" r="r" b="b"/>
              <a:pathLst>
                <a:path w="24409400" h="125984">
                  <a:moveTo>
                    <a:pt x="0" y="0"/>
                  </a:moveTo>
                  <a:lnTo>
                    <a:pt x="24409400" y="0"/>
                  </a:lnTo>
                  <a:lnTo>
                    <a:pt x="24409400" y="125984"/>
                  </a:lnTo>
                  <a:lnTo>
                    <a:pt x="0" y="125984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521208"/>
            <a:ext cx="11795760" cy="342900"/>
            <a:chOff x="0" y="0"/>
            <a:chExt cx="1572768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727680" cy="457200"/>
            </a:xfrm>
            <a:custGeom>
              <a:avLst/>
              <a:gdLst/>
              <a:ahLst/>
              <a:cxnLst/>
              <a:rect l="l" t="t" r="r" b="b"/>
              <a:pathLst>
                <a:path w="15727680" h="457200">
                  <a:moveTo>
                    <a:pt x="0" y="0"/>
                  </a:moveTo>
                  <a:lnTo>
                    <a:pt x="15727680" y="0"/>
                  </a:lnTo>
                  <a:lnTo>
                    <a:pt x="157276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285" b="-6202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572768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 / CÓDIGO REAL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4380" y="1124712"/>
            <a:ext cx="16802100" cy="795528"/>
            <a:chOff x="0" y="0"/>
            <a:chExt cx="22402800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02800" cy="1060704"/>
            </a:xfrm>
            <a:custGeom>
              <a:avLst/>
              <a:gdLst/>
              <a:ahLst/>
              <a:cxnLst/>
              <a:rect l="l" t="t" r="r" b="b"/>
              <a:pathLst>
                <a:path w="22402800" h="1060704">
                  <a:moveTo>
                    <a:pt x="0" y="0"/>
                  </a:moveTo>
                  <a:lnTo>
                    <a:pt x="22402800" y="0"/>
                  </a:lnTo>
                  <a:lnTo>
                    <a:pt x="224028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537" b="-361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402800" cy="10797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Arquitectura modular en Python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8096" y="2002536"/>
            <a:ext cx="16664940" cy="466344"/>
            <a:chOff x="0" y="0"/>
            <a:chExt cx="22219920" cy="6217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9920" cy="621792"/>
            </a:xfrm>
            <a:custGeom>
              <a:avLst/>
              <a:gdLst/>
              <a:ahLst/>
              <a:cxnLst/>
              <a:rect l="l" t="t" r="r" b="b"/>
              <a:pathLst>
                <a:path w="22219920" h="621792">
                  <a:moveTo>
                    <a:pt x="0" y="0"/>
                  </a:moveTo>
                  <a:lnTo>
                    <a:pt x="22219920" y="0"/>
                  </a:lnTo>
                  <a:lnTo>
                    <a:pt x="22219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6303" b="-646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2199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9CB9CB"/>
                  </a:solidFill>
                  <a:latin typeface="Arial"/>
                  <a:ea typeface="Arial"/>
                  <a:cs typeface="Arial"/>
                  <a:sym typeface="Arial"/>
                </a:rPr>
                <a:t>main.py coordina el modelo, la cámara, la decisión y la interacción del usuario.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rot="3120">
            <a:off x="760476" y="9829610"/>
            <a:ext cx="16762486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95528" y="9930384"/>
            <a:ext cx="11658600" cy="205740"/>
            <a:chOff x="0" y="0"/>
            <a:chExt cx="15544800" cy="2743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44800" cy="274320"/>
            </a:xfrm>
            <a:custGeom>
              <a:avLst/>
              <a:gdLst/>
              <a:ahLst/>
              <a:cxnLst/>
              <a:rect l="l" t="t" r="r" b="b"/>
              <a:pathLst>
                <a:path w="15544800" h="274320">
                  <a:moveTo>
                    <a:pt x="0" y="0"/>
                  </a:moveTo>
                  <a:lnTo>
                    <a:pt x="15544800" y="0"/>
                  </a:lnTo>
                  <a:lnTo>
                    <a:pt x="15544800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4152" b="-10541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5544800" cy="293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47"/>
                </a:lnSpc>
              </a:pPr>
              <a:r>
                <a:rPr lang="en-US" sz="1289" b="1">
                  <a:solidFill>
                    <a:srgbClr val="9CB9C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AGENTE INTELIGENTE DE LABORATORIO QUÍMICO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294608" y="9916668"/>
            <a:ext cx="1248156" cy="233172"/>
            <a:chOff x="0" y="0"/>
            <a:chExt cx="1664208" cy="3108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64208" cy="310896"/>
            </a:xfrm>
            <a:custGeom>
              <a:avLst/>
              <a:gdLst/>
              <a:ahLst/>
              <a:cxnLst/>
              <a:rect l="l" t="t" r="r" b="b"/>
              <a:pathLst>
                <a:path w="1664208" h="310896">
                  <a:moveTo>
                    <a:pt x="0" y="0"/>
                  </a:moveTo>
                  <a:lnTo>
                    <a:pt x="1664208" y="0"/>
                  </a:lnTo>
                  <a:lnTo>
                    <a:pt x="166420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302" b="-543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664208" cy="329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 dirty="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 / 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82547" y="9962007"/>
            <a:ext cx="190500" cy="67056"/>
            <a:chOff x="0" y="0"/>
            <a:chExt cx="254000" cy="894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556867" y="9962007"/>
            <a:ext cx="190500" cy="67056"/>
            <a:chOff x="0" y="0"/>
            <a:chExt cx="254000" cy="894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831187" y="9962007"/>
            <a:ext cx="190500" cy="67056"/>
            <a:chOff x="0" y="0"/>
            <a:chExt cx="254000" cy="894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105507" y="9962007"/>
            <a:ext cx="190500" cy="67056"/>
            <a:chOff x="0" y="0"/>
            <a:chExt cx="254000" cy="894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379827" y="9962007"/>
            <a:ext cx="190500" cy="67056"/>
            <a:chOff x="0" y="0"/>
            <a:chExt cx="254000" cy="894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654147" y="9962007"/>
            <a:ext cx="190500" cy="67056"/>
            <a:chOff x="0" y="0"/>
            <a:chExt cx="254000" cy="894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533007" y="2610231"/>
            <a:ext cx="5231130" cy="1088898"/>
            <a:chOff x="0" y="0"/>
            <a:chExt cx="6974840" cy="14518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74839" cy="1451864"/>
            </a:xfrm>
            <a:custGeom>
              <a:avLst/>
              <a:gdLst/>
              <a:ahLst/>
              <a:cxnLst/>
              <a:rect l="l" t="t" r="r" b="b"/>
              <a:pathLst>
                <a:path w="6974839" h="1451864">
                  <a:moveTo>
                    <a:pt x="0" y="353695"/>
                  </a:moveTo>
                  <a:cubicBezTo>
                    <a:pt x="0" y="158369"/>
                    <a:pt x="158369" y="0"/>
                    <a:pt x="353695" y="0"/>
                  </a:cubicBezTo>
                  <a:lnTo>
                    <a:pt x="6621145" y="0"/>
                  </a:lnTo>
                  <a:cubicBezTo>
                    <a:pt x="6816471" y="0"/>
                    <a:pt x="6974839" y="158369"/>
                    <a:pt x="6974839" y="353695"/>
                  </a:cubicBezTo>
                  <a:lnTo>
                    <a:pt x="6974839" y="1098169"/>
                  </a:lnTo>
                  <a:cubicBezTo>
                    <a:pt x="6974839" y="1293495"/>
                    <a:pt x="6816471" y="1451864"/>
                    <a:pt x="6621145" y="1451864"/>
                  </a:cubicBezTo>
                  <a:lnTo>
                    <a:pt x="353695" y="1451864"/>
                  </a:lnTo>
                  <a:cubicBezTo>
                    <a:pt x="158369" y="1451864"/>
                    <a:pt x="0" y="1293495"/>
                    <a:pt x="0" y="1098169"/>
                  </a:cubicBez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885432" y="2825496"/>
            <a:ext cx="4553712" cy="534924"/>
            <a:chOff x="0" y="0"/>
            <a:chExt cx="6071616" cy="71323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071616" cy="713232"/>
            </a:xfrm>
            <a:custGeom>
              <a:avLst/>
              <a:gdLst/>
              <a:ahLst/>
              <a:cxnLst/>
              <a:rect l="l" t="t" r="r" b="b"/>
              <a:pathLst>
                <a:path w="6071616" h="713232">
                  <a:moveTo>
                    <a:pt x="0" y="0"/>
                  </a:moveTo>
                  <a:lnTo>
                    <a:pt x="6071616" y="0"/>
                  </a:lnTo>
                  <a:lnTo>
                    <a:pt x="6071616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5872" b="-11587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6071616" cy="7418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07182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main.py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 rot="5072040">
            <a:off x="8988590" y="3824097"/>
            <a:ext cx="319973" cy="0"/>
          </a:xfrm>
          <a:prstGeom prst="line">
            <a:avLst/>
          </a:prstGeom>
          <a:ln w="19050" cap="rnd">
            <a:solidFill>
              <a:srgbClr val="35E3D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8" name="AutoShape 38"/>
          <p:cNvSpPr/>
          <p:nvPr/>
        </p:nvSpPr>
        <p:spPr>
          <a:xfrm rot="6720">
            <a:off x="2318375" y="3972878"/>
            <a:ext cx="13660403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9" name="AutoShape 39"/>
          <p:cNvSpPr/>
          <p:nvPr/>
        </p:nvSpPr>
        <p:spPr>
          <a:xfrm rot="5201280">
            <a:off x="2539908" y="4151186"/>
            <a:ext cx="379162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799243" y="4337971"/>
            <a:ext cx="4107371" cy="1556194"/>
            <a:chOff x="0" y="0"/>
            <a:chExt cx="5476494" cy="207492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476494" cy="2074926"/>
            </a:xfrm>
            <a:custGeom>
              <a:avLst/>
              <a:gdLst/>
              <a:ahLst/>
              <a:cxnLst/>
              <a:rect l="l" t="t" r="r" b="b"/>
              <a:pathLst>
                <a:path w="5476494" h="2074926">
                  <a:moveTo>
                    <a:pt x="0" y="277876"/>
                  </a:moveTo>
                  <a:cubicBezTo>
                    <a:pt x="0" y="124460"/>
                    <a:pt x="124460" y="0"/>
                    <a:pt x="277876" y="0"/>
                  </a:cubicBezTo>
                  <a:lnTo>
                    <a:pt x="5198618" y="0"/>
                  </a:lnTo>
                  <a:cubicBezTo>
                    <a:pt x="5352034" y="0"/>
                    <a:pt x="5476494" y="124460"/>
                    <a:pt x="5476494" y="277876"/>
                  </a:cubicBezTo>
                  <a:lnTo>
                    <a:pt x="5476494" y="1797050"/>
                  </a:lnTo>
                  <a:cubicBezTo>
                    <a:pt x="5476494" y="1950466"/>
                    <a:pt x="5352034" y="2074926"/>
                    <a:pt x="5198618" y="2074926"/>
                  </a:cubicBezTo>
                  <a:lnTo>
                    <a:pt x="277876" y="2074926"/>
                  </a:lnTo>
                  <a:cubicBezTo>
                    <a:pt x="124460" y="2074926"/>
                    <a:pt x="0" y="1950466"/>
                    <a:pt x="0" y="1797050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5459" y="4544187"/>
            <a:ext cx="142494" cy="1130046"/>
            <a:chOff x="0" y="0"/>
            <a:chExt cx="189992" cy="150672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89992" cy="1506728"/>
            </a:xfrm>
            <a:custGeom>
              <a:avLst/>
              <a:gdLst/>
              <a:ahLst/>
              <a:cxnLst/>
              <a:rect l="l" t="t" r="r" b="b"/>
              <a:pathLst>
                <a:path w="189992" h="1506728">
                  <a:moveTo>
                    <a:pt x="0" y="0"/>
                  </a:moveTo>
                  <a:lnTo>
                    <a:pt x="189992" y="0"/>
                  </a:lnTo>
                  <a:lnTo>
                    <a:pt x="189992" y="1506728"/>
                  </a:lnTo>
                  <a:lnTo>
                    <a:pt x="0" y="150672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16736" y="4608576"/>
            <a:ext cx="3332988" cy="452628"/>
            <a:chOff x="0" y="0"/>
            <a:chExt cx="4443984" cy="6035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443984" cy="603504"/>
            </a:xfrm>
            <a:custGeom>
              <a:avLst/>
              <a:gdLst/>
              <a:ahLst/>
              <a:cxnLst/>
              <a:rect l="l" t="t" r="r" b="b"/>
              <a:pathLst>
                <a:path w="4443984" h="603504">
                  <a:moveTo>
                    <a:pt x="0" y="0"/>
                  </a:moveTo>
                  <a:lnTo>
                    <a:pt x="4443984" y="0"/>
                  </a:lnTo>
                  <a:lnTo>
                    <a:pt x="444398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480" b="-93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4443984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27"/>
                </a:lnSpc>
              </a:pPr>
              <a:r>
                <a:rPr lang="en-US" sz="219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model_service.py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16736" y="5184648"/>
            <a:ext cx="3305556" cy="342900"/>
            <a:chOff x="0" y="0"/>
            <a:chExt cx="4407408" cy="457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407408" cy="457200"/>
            </a:xfrm>
            <a:custGeom>
              <a:avLst/>
              <a:gdLst/>
              <a:ahLst/>
              <a:cxnLst/>
              <a:rect l="l" t="t" r="r" b="b"/>
              <a:pathLst>
                <a:path w="4407408" h="457200">
                  <a:moveTo>
                    <a:pt x="0" y="0"/>
                  </a:moveTo>
                  <a:lnTo>
                    <a:pt x="4407408" y="0"/>
                  </a:lnTo>
                  <a:lnTo>
                    <a:pt x="44074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835" b="-1378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28575"/>
              <a:ext cx="4407408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05"/>
                </a:lnSpc>
              </a:pPr>
              <a:r>
                <a:rPr lang="en-US" sz="1754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Modelo H5 y predicción</a:t>
              </a:r>
            </a:p>
          </p:txBody>
        </p:sp>
      </p:grpSp>
      <p:sp>
        <p:nvSpPr>
          <p:cNvPr id="50" name="AutoShape 50"/>
          <p:cNvSpPr/>
          <p:nvPr/>
        </p:nvSpPr>
        <p:spPr>
          <a:xfrm rot="5201280">
            <a:off x="6901596" y="4151186"/>
            <a:ext cx="379162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51" name="Group 51"/>
          <p:cNvGrpSpPr/>
          <p:nvPr/>
        </p:nvGrpSpPr>
        <p:grpSpPr>
          <a:xfrm>
            <a:off x="5160931" y="4337971"/>
            <a:ext cx="4107371" cy="1556194"/>
            <a:chOff x="0" y="0"/>
            <a:chExt cx="5476494" cy="207492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76494" cy="2074926"/>
            </a:xfrm>
            <a:custGeom>
              <a:avLst/>
              <a:gdLst/>
              <a:ahLst/>
              <a:cxnLst/>
              <a:rect l="l" t="t" r="r" b="b"/>
              <a:pathLst>
                <a:path w="5476494" h="2074926">
                  <a:moveTo>
                    <a:pt x="0" y="277876"/>
                  </a:moveTo>
                  <a:cubicBezTo>
                    <a:pt x="0" y="124460"/>
                    <a:pt x="124460" y="0"/>
                    <a:pt x="277876" y="0"/>
                  </a:cubicBezTo>
                  <a:lnTo>
                    <a:pt x="5198618" y="0"/>
                  </a:lnTo>
                  <a:cubicBezTo>
                    <a:pt x="5352034" y="0"/>
                    <a:pt x="5476494" y="124460"/>
                    <a:pt x="5476494" y="277876"/>
                  </a:cubicBezTo>
                  <a:lnTo>
                    <a:pt x="5476494" y="1797050"/>
                  </a:lnTo>
                  <a:cubicBezTo>
                    <a:pt x="5476494" y="1950466"/>
                    <a:pt x="5352034" y="2074926"/>
                    <a:pt x="5198618" y="2074926"/>
                  </a:cubicBezTo>
                  <a:lnTo>
                    <a:pt x="277876" y="2074926"/>
                  </a:lnTo>
                  <a:cubicBezTo>
                    <a:pt x="124460" y="2074926"/>
                    <a:pt x="0" y="1950466"/>
                    <a:pt x="0" y="1797050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367147" y="4544187"/>
            <a:ext cx="142494" cy="1130046"/>
            <a:chOff x="0" y="0"/>
            <a:chExt cx="189992" cy="150672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9992" cy="1506728"/>
            </a:xfrm>
            <a:custGeom>
              <a:avLst/>
              <a:gdLst/>
              <a:ahLst/>
              <a:cxnLst/>
              <a:rect l="l" t="t" r="r" b="b"/>
              <a:pathLst>
                <a:path w="189992" h="1506728">
                  <a:moveTo>
                    <a:pt x="0" y="0"/>
                  </a:moveTo>
                  <a:lnTo>
                    <a:pt x="189992" y="0"/>
                  </a:lnTo>
                  <a:lnTo>
                    <a:pt x="189992" y="1506728"/>
                  </a:lnTo>
                  <a:lnTo>
                    <a:pt x="0" y="150672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678424" y="4608576"/>
            <a:ext cx="3332988" cy="452628"/>
            <a:chOff x="0" y="0"/>
            <a:chExt cx="4443984" cy="60350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443984" cy="603504"/>
            </a:xfrm>
            <a:custGeom>
              <a:avLst/>
              <a:gdLst/>
              <a:ahLst/>
              <a:cxnLst/>
              <a:rect l="l" t="t" r="r" b="b"/>
              <a:pathLst>
                <a:path w="4443984" h="603504">
                  <a:moveTo>
                    <a:pt x="0" y="0"/>
                  </a:moveTo>
                  <a:lnTo>
                    <a:pt x="4443984" y="0"/>
                  </a:lnTo>
                  <a:lnTo>
                    <a:pt x="444398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480" b="-93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4443984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27"/>
                </a:lnSpc>
              </a:pPr>
              <a:r>
                <a:rPr lang="en-US" sz="219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camera_service.py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78424" y="5184648"/>
            <a:ext cx="3305556" cy="342900"/>
            <a:chOff x="0" y="0"/>
            <a:chExt cx="4407408" cy="45720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407408" cy="457200"/>
            </a:xfrm>
            <a:custGeom>
              <a:avLst/>
              <a:gdLst/>
              <a:ahLst/>
              <a:cxnLst/>
              <a:rect l="l" t="t" r="r" b="b"/>
              <a:pathLst>
                <a:path w="4407408" h="457200">
                  <a:moveTo>
                    <a:pt x="0" y="0"/>
                  </a:moveTo>
                  <a:lnTo>
                    <a:pt x="4407408" y="0"/>
                  </a:lnTo>
                  <a:lnTo>
                    <a:pt x="44074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835" b="-1378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4407408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05"/>
                </a:lnSpc>
              </a:pPr>
              <a:r>
                <a:rPr lang="en-US" sz="1754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OpenCV y fotogramas</a:t>
              </a:r>
            </a:p>
          </p:txBody>
        </p:sp>
      </p:grpSp>
      <p:sp>
        <p:nvSpPr>
          <p:cNvPr id="61" name="AutoShape 61"/>
          <p:cNvSpPr/>
          <p:nvPr/>
        </p:nvSpPr>
        <p:spPr>
          <a:xfrm rot="5201280">
            <a:off x="11263284" y="4151186"/>
            <a:ext cx="379162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2" name="Group 62"/>
          <p:cNvGrpSpPr/>
          <p:nvPr/>
        </p:nvGrpSpPr>
        <p:grpSpPr>
          <a:xfrm>
            <a:off x="9522619" y="4337971"/>
            <a:ext cx="4107371" cy="1556194"/>
            <a:chOff x="0" y="0"/>
            <a:chExt cx="5476494" cy="2074926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476494" cy="2074926"/>
            </a:xfrm>
            <a:custGeom>
              <a:avLst/>
              <a:gdLst/>
              <a:ahLst/>
              <a:cxnLst/>
              <a:rect l="l" t="t" r="r" b="b"/>
              <a:pathLst>
                <a:path w="5476494" h="2074926">
                  <a:moveTo>
                    <a:pt x="0" y="277876"/>
                  </a:moveTo>
                  <a:cubicBezTo>
                    <a:pt x="0" y="124460"/>
                    <a:pt x="124460" y="0"/>
                    <a:pt x="277876" y="0"/>
                  </a:cubicBezTo>
                  <a:lnTo>
                    <a:pt x="5198618" y="0"/>
                  </a:lnTo>
                  <a:cubicBezTo>
                    <a:pt x="5352034" y="0"/>
                    <a:pt x="5476494" y="124460"/>
                    <a:pt x="5476494" y="277876"/>
                  </a:cubicBezTo>
                  <a:lnTo>
                    <a:pt x="5476494" y="1797050"/>
                  </a:lnTo>
                  <a:cubicBezTo>
                    <a:pt x="5476494" y="1950466"/>
                    <a:pt x="5352034" y="2074926"/>
                    <a:pt x="5198618" y="2074926"/>
                  </a:cubicBezTo>
                  <a:lnTo>
                    <a:pt x="277876" y="2074926"/>
                  </a:lnTo>
                  <a:cubicBezTo>
                    <a:pt x="124460" y="2074926"/>
                    <a:pt x="0" y="1950466"/>
                    <a:pt x="0" y="1797050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728835" y="4544187"/>
            <a:ext cx="142494" cy="1130046"/>
            <a:chOff x="0" y="0"/>
            <a:chExt cx="189992" cy="150672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89992" cy="1506728"/>
            </a:xfrm>
            <a:custGeom>
              <a:avLst/>
              <a:gdLst/>
              <a:ahLst/>
              <a:cxnLst/>
              <a:rect l="l" t="t" r="r" b="b"/>
              <a:pathLst>
                <a:path w="189992" h="1506728">
                  <a:moveTo>
                    <a:pt x="0" y="0"/>
                  </a:moveTo>
                  <a:lnTo>
                    <a:pt x="189992" y="0"/>
                  </a:lnTo>
                  <a:lnTo>
                    <a:pt x="189992" y="1506728"/>
                  </a:lnTo>
                  <a:lnTo>
                    <a:pt x="0" y="1506728"/>
                  </a:lnTo>
                  <a:close/>
                </a:path>
              </a:pathLst>
            </a:custGeom>
            <a:solidFill>
              <a:srgbClr val="81E7A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040112" y="4608576"/>
            <a:ext cx="3332988" cy="452628"/>
            <a:chOff x="0" y="0"/>
            <a:chExt cx="4443984" cy="60350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443984" cy="603504"/>
            </a:xfrm>
            <a:custGeom>
              <a:avLst/>
              <a:gdLst/>
              <a:ahLst/>
              <a:cxnLst/>
              <a:rect l="l" t="t" r="r" b="b"/>
              <a:pathLst>
                <a:path w="4443984" h="603504">
                  <a:moveTo>
                    <a:pt x="0" y="0"/>
                  </a:moveTo>
                  <a:lnTo>
                    <a:pt x="4443984" y="0"/>
                  </a:lnTo>
                  <a:lnTo>
                    <a:pt x="444398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480" b="-93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4443984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27"/>
                </a:lnSpc>
              </a:pPr>
              <a:r>
                <a:rPr lang="en-US" sz="219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decision_service.py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040112" y="5184648"/>
            <a:ext cx="3305556" cy="342900"/>
            <a:chOff x="0" y="0"/>
            <a:chExt cx="4407408" cy="4572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407408" cy="457200"/>
            </a:xfrm>
            <a:custGeom>
              <a:avLst/>
              <a:gdLst/>
              <a:ahLst/>
              <a:cxnLst/>
              <a:rect l="l" t="t" r="r" b="b"/>
              <a:pathLst>
                <a:path w="4407408" h="457200">
                  <a:moveTo>
                    <a:pt x="0" y="0"/>
                  </a:moveTo>
                  <a:lnTo>
                    <a:pt x="4407408" y="0"/>
                  </a:lnTo>
                  <a:lnTo>
                    <a:pt x="44074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835" b="-1378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4407408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05"/>
                </a:lnSpc>
              </a:pPr>
              <a:r>
                <a:rPr lang="en-US" sz="1754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Umbral y estabilización</a:t>
              </a:r>
            </a:p>
          </p:txBody>
        </p:sp>
      </p:grpSp>
      <p:sp>
        <p:nvSpPr>
          <p:cNvPr id="72" name="AutoShape 72"/>
          <p:cNvSpPr/>
          <p:nvPr/>
        </p:nvSpPr>
        <p:spPr>
          <a:xfrm rot="5201280">
            <a:off x="15624972" y="4151186"/>
            <a:ext cx="379162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3" name="Group 73"/>
          <p:cNvGrpSpPr/>
          <p:nvPr/>
        </p:nvGrpSpPr>
        <p:grpSpPr>
          <a:xfrm>
            <a:off x="13884307" y="4337971"/>
            <a:ext cx="4107371" cy="1556194"/>
            <a:chOff x="0" y="0"/>
            <a:chExt cx="5476494" cy="207492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5476494" cy="2074926"/>
            </a:xfrm>
            <a:custGeom>
              <a:avLst/>
              <a:gdLst/>
              <a:ahLst/>
              <a:cxnLst/>
              <a:rect l="l" t="t" r="r" b="b"/>
              <a:pathLst>
                <a:path w="5476494" h="2074926">
                  <a:moveTo>
                    <a:pt x="0" y="277876"/>
                  </a:moveTo>
                  <a:cubicBezTo>
                    <a:pt x="0" y="124460"/>
                    <a:pt x="124460" y="0"/>
                    <a:pt x="277876" y="0"/>
                  </a:cubicBezTo>
                  <a:lnTo>
                    <a:pt x="5198618" y="0"/>
                  </a:lnTo>
                  <a:cubicBezTo>
                    <a:pt x="5352034" y="0"/>
                    <a:pt x="5476494" y="124460"/>
                    <a:pt x="5476494" y="277876"/>
                  </a:cubicBezTo>
                  <a:lnTo>
                    <a:pt x="5476494" y="1797050"/>
                  </a:lnTo>
                  <a:cubicBezTo>
                    <a:pt x="5476494" y="1950466"/>
                    <a:pt x="5352034" y="2074926"/>
                    <a:pt x="5198618" y="2074926"/>
                  </a:cubicBezTo>
                  <a:lnTo>
                    <a:pt x="277876" y="2074926"/>
                  </a:lnTo>
                  <a:cubicBezTo>
                    <a:pt x="124460" y="2074926"/>
                    <a:pt x="0" y="1950466"/>
                    <a:pt x="0" y="1797050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4090523" y="4544187"/>
            <a:ext cx="142494" cy="1130046"/>
            <a:chOff x="0" y="0"/>
            <a:chExt cx="189992" cy="150672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89992" cy="1506728"/>
            </a:xfrm>
            <a:custGeom>
              <a:avLst/>
              <a:gdLst/>
              <a:ahLst/>
              <a:cxnLst/>
              <a:rect l="l" t="t" r="r" b="b"/>
              <a:pathLst>
                <a:path w="189992" h="1506728">
                  <a:moveTo>
                    <a:pt x="0" y="0"/>
                  </a:moveTo>
                  <a:lnTo>
                    <a:pt x="189992" y="0"/>
                  </a:lnTo>
                  <a:lnTo>
                    <a:pt x="189992" y="1506728"/>
                  </a:lnTo>
                  <a:lnTo>
                    <a:pt x="0" y="150672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4401800" y="4608576"/>
            <a:ext cx="3332988" cy="452628"/>
            <a:chOff x="0" y="0"/>
            <a:chExt cx="4443984" cy="60350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4443984" cy="603504"/>
            </a:xfrm>
            <a:custGeom>
              <a:avLst/>
              <a:gdLst/>
              <a:ahLst/>
              <a:cxnLst/>
              <a:rect l="l" t="t" r="r" b="b"/>
              <a:pathLst>
                <a:path w="4443984" h="603504">
                  <a:moveTo>
                    <a:pt x="0" y="0"/>
                  </a:moveTo>
                  <a:lnTo>
                    <a:pt x="4443984" y="0"/>
                  </a:lnTo>
                  <a:lnTo>
                    <a:pt x="444398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480" b="-93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4443984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27"/>
                </a:lnSpc>
              </a:pPr>
              <a:r>
                <a:rPr lang="en-US" sz="219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ui_layout.py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4401800" y="5184648"/>
            <a:ext cx="3305556" cy="342900"/>
            <a:chOff x="0" y="0"/>
            <a:chExt cx="4407408" cy="45720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4407408" cy="457200"/>
            </a:xfrm>
            <a:custGeom>
              <a:avLst/>
              <a:gdLst/>
              <a:ahLst/>
              <a:cxnLst/>
              <a:rect l="l" t="t" r="r" b="b"/>
              <a:pathLst>
                <a:path w="4407408" h="457200">
                  <a:moveTo>
                    <a:pt x="0" y="0"/>
                  </a:moveTo>
                  <a:lnTo>
                    <a:pt x="4407408" y="0"/>
                  </a:lnTo>
                  <a:lnTo>
                    <a:pt x="44074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835" b="-1378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4407408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05"/>
                </a:lnSpc>
              </a:pPr>
              <a:r>
                <a:rPr lang="en-US" sz="1754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Interfaz adaptable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99243" y="6093619"/>
            <a:ext cx="4107371" cy="1556194"/>
            <a:chOff x="0" y="0"/>
            <a:chExt cx="5476494" cy="2074926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5476494" cy="2074926"/>
            </a:xfrm>
            <a:custGeom>
              <a:avLst/>
              <a:gdLst/>
              <a:ahLst/>
              <a:cxnLst/>
              <a:rect l="l" t="t" r="r" b="b"/>
              <a:pathLst>
                <a:path w="5476494" h="2074926">
                  <a:moveTo>
                    <a:pt x="0" y="277876"/>
                  </a:moveTo>
                  <a:cubicBezTo>
                    <a:pt x="0" y="124460"/>
                    <a:pt x="124460" y="0"/>
                    <a:pt x="277876" y="0"/>
                  </a:cubicBezTo>
                  <a:lnTo>
                    <a:pt x="5198618" y="0"/>
                  </a:lnTo>
                  <a:cubicBezTo>
                    <a:pt x="5352034" y="0"/>
                    <a:pt x="5476494" y="124460"/>
                    <a:pt x="5476494" y="277876"/>
                  </a:cubicBezTo>
                  <a:lnTo>
                    <a:pt x="5476494" y="1797050"/>
                  </a:lnTo>
                  <a:cubicBezTo>
                    <a:pt x="5476494" y="1950466"/>
                    <a:pt x="5352034" y="2074926"/>
                    <a:pt x="5198618" y="2074926"/>
                  </a:cubicBezTo>
                  <a:lnTo>
                    <a:pt x="277876" y="2074926"/>
                  </a:lnTo>
                  <a:cubicBezTo>
                    <a:pt x="124460" y="2074926"/>
                    <a:pt x="0" y="1950466"/>
                    <a:pt x="0" y="1797050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1005459" y="6299835"/>
            <a:ext cx="142494" cy="1130046"/>
            <a:chOff x="0" y="0"/>
            <a:chExt cx="189992" cy="1506728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89992" cy="1506728"/>
            </a:xfrm>
            <a:custGeom>
              <a:avLst/>
              <a:gdLst/>
              <a:ahLst/>
              <a:cxnLst/>
              <a:rect l="l" t="t" r="r" b="b"/>
              <a:pathLst>
                <a:path w="189992" h="1506728">
                  <a:moveTo>
                    <a:pt x="0" y="0"/>
                  </a:moveTo>
                  <a:lnTo>
                    <a:pt x="189992" y="0"/>
                  </a:lnTo>
                  <a:lnTo>
                    <a:pt x="189992" y="1506728"/>
                  </a:lnTo>
                  <a:lnTo>
                    <a:pt x="0" y="150672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316736" y="6364224"/>
            <a:ext cx="3332988" cy="452628"/>
            <a:chOff x="0" y="0"/>
            <a:chExt cx="4443984" cy="60350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4443984" cy="603504"/>
            </a:xfrm>
            <a:custGeom>
              <a:avLst/>
              <a:gdLst/>
              <a:ahLst/>
              <a:cxnLst/>
              <a:rect l="l" t="t" r="r" b="b"/>
              <a:pathLst>
                <a:path w="4443984" h="603504">
                  <a:moveTo>
                    <a:pt x="0" y="0"/>
                  </a:moveTo>
                  <a:lnTo>
                    <a:pt x="4443984" y="0"/>
                  </a:lnTo>
                  <a:lnTo>
                    <a:pt x="444398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480" b="-93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4443984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27"/>
                </a:lnSpc>
              </a:pPr>
              <a:r>
                <a:rPr lang="en-US" sz="219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history_service.py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316736" y="6940296"/>
            <a:ext cx="3305556" cy="342900"/>
            <a:chOff x="0" y="0"/>
            <a:chExt cx="4407408" cy="4572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407408" cy="457200"/>
            </a:xfrm>
            <a:custGeom>
              <a:avLst/>
              <a:gdLst/>
              <a:ahLst/>
              <a:cxnLst/>
              <a:rect l="l" t="t" r="r" b="b"/>
              <a:pathLst>
                <a:path w="4407408" h="457200">
                  <a:moveTo>
                    <a:pt x="0" y="0"/>
                  </a:moveTo>
                  <a:lnTo>
                    <a:pt x="4407408" y="0"/>
                  </a:lnTo>
                  <a:lnTo>
                    <a:pt x="44074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835" b="-1378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0" y="-28575"/>
              <a:ext cx="4407408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05"/>
                </a:lnSpc>
              </a:pPr>
              <a:r>
                <a:rPr lang="en-US" sz="1754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CSV de confirmaciones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160931" y="6093619"/>
            <a:ext cx="4107371" cy="1556194"/>
            <a:chOff x="0" y="0"/>
            <a:chExt cx="5476494" cy="2074926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5476494" cy="2074926"/>
            </a:xfrm>
            <a:custGeom>
              <a:avLst/>
              <a:gdLst/>
              <a:ahLst/>
              <a:cxnLst/>
              <a:rect l="l" t="t" r="r" b="b"/>
              <a:pathLst>
                <a:path w="5476494" h="2074926">
                  <a:moveTo>
                    <a:pt x="0" y="277876"/>
                  </a:moveTo>
                  <a:cubicBezTo>
                    <a:pt x="0" y="124460"/>
                    <a:pt x="124460" y="0"/>
                    <a:pt x="277876" y="0"/>
                  </a:cubicBezTo>
                  <a:lnTo>
                    <a:pt x="5198618" y="0"/>
                  </a:lnTo>
                  <a:cubicBezTo>
                    <a:pt x="5352034" y="0"/>
                    <a:pt x="5476494" y="124460"/>
                    <a:pt x="5476494" y="277876"/>
                  </a:cubicBezTo>
                  <a:lnTo>
                    <a:pt x="5476494" y="1797050"/>
                  </a:lnTo>
                  <a:cubicBezTo>
                    <a:pt x="5476494" y="1950466"/>
                    <a:pt x="5352034" y="2074926"/>
                    <a:pt x="5198618" y="2074926"/>
                  </a:cubicBezTo>
                  <a:lnTo>
                    <a:pt x="277876" y="2074926"/>
                  </a:lnTo>
                  <a:cubicBezTo>
                    <a:pt x="124460" y="2074926"/>
                    <a:pt x="0" y="1950466"/>
                    <a:pt x="0" y="1797050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367147" y="6299835"/>
            <a:ext cx="142494" cy="1130046"/>
            <a:chOff x="0" y="0"/>
            <a:chExt cx="189992" cy="150672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89992" cy="1506728"/>
            </a:xfrm>
            <a:custGeom>
              <a:avLst/>
              <a:gdLst/>
              <a:ahLst/>
              <a:cxnLst/>
              <a:rect l="l" t="t" r="r" b="b"/>
              <a:pathLst>
                <a:path w="189992" h="1506728">
                  <a:moveTo>
                    <a:pt x="0" y="0"/>
                  </a:moveTo>
                  <a:lnTo>
                    <a:pt x="189992" y="0"/>
                  </a:lnTo>
                  <a:lnTo>
                    <a:pt x="189992" y="1506728"/>
                  </a:lnTo>
                  <a:lnTo>
                    <a:pt x="0" y="150672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5678424" y="6364224"/>
            <a:ext cx="3332988" cy="452628"/>
            <a:chOff x="0" y="0"/>
            <a:chExt cx="4443984" cy="603504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4443984" cy="603504"/>
            </a:xfrm>
            <a:custGeom>
              <a:avLst/>
              <a:gdLst/>
              <a:ahLst/>
              <a:cxnLst/>
              <a:rect l="l" t="t" r="r" b="b"/>
              <a:pathLst>
                <a:path w="4443984" h="603504">
                  <a:moveTo>
                    <a:pt x="0" y="0"/>
                  </a:moveTo>
                  <a:lnTo>
                    <a:pt x="4443984" y="0"/>
                  </a:lnTo>
                  <a:lnTo>
                    <a:pt x="444398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480" b="-93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4443984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27"/>
                </a:lnSpc>
              </a:pPr>
              <a:r>
                <a:rPr lang="en-US" sz="219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catalog_service.py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5678424" y="6940296"/>
            <a:ext cx="3305556" cy="342900"/>
            <a:chOff x="0" y="0"/>
            <a:chExt cx="4407408" cy="457200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4407408" cy="457200"/>
            </a:xfrm>
            <a:custGeom>
              <a:avLst/>
              <a:gdLst/>
              <a:ahLst/>
              <a:cxnLst/>
              <a:rect l="l" t="t" r="r" b="b"/>
              <a:pathLst>
                <a:path w="4407408" h="457200">
                  <a:moveTo>
                    <a:pt x="0" y="0"/>
                  </a:moveTo>
                  <a:lnTo>
                    <a:pt x="4407408" y="0"/>
                  </a:lnTo>
                  <a:lnTo>
                    <a:pt x="44074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835" b="-1378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0" y="-28575"/>
              <a:ext cx="4407408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05"/>
                </a:lnSpc>
              </a:pPr>
              <a:r>
                <a:rPr lang="en-US" sz="1754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Fichas educativas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9522619" y="6093619"/>
            <a:ext cx="4107371" cy="1556194"/>
            <a:chOff x="0" y="0"/>
            <a:chExt cx="5476494" cy="2074926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5476494" cy="2074926"/>
            </a:xfrm>
            <a:custGeom>
              <a:avLst/>
              <a:gdLst/>
              <a:ahLst/>
              <a:cxnLst/>
              <a:rect l="l" t="t" r="r" b="b"/>
              <a:pathLst>
                <a:path w="5476494" h="2074926">
                  <a:moveTo>
                    <a:pt x="0" y="277876"/>
                  </a:moveTo>
                  <a:cubicBezTo>
                    <a:pt x="0" y="124460"/>
                    <a:pt x="124460" y="0"/>
                    <a:pt x="277876" y="0"/>
                  </a:cubicBezTo>
                  <a:lnTo>
                    <a:pt x="5198618" y="0"/>
                  </a:lnTo>
                  <a:cubicBezTo>
                    <a:pt x="5352034" y="0"/>
                    <a:pt x="5476494" y="124460"/>
                    <a:pt x="5476494" y="277876"/>
                  </a:cubicBezTo>
                  <a:lnTo>
                    <a:pt x="5476494" y="1797050"/>
                  </a:lnTo>
                  <a:cubicBezTo>
                    <a:pt x="5476494" y="1950466"/>
                    <a:pt x="5352034" y="2074926"/>
                    <a:pt x="5198618" y="2074926"/>
                  </a:cubicBezTo>
                  <a:lnTo>
                    <a:pt x="277876" y="2074926"/>
                  </a:lnTo>
                  <a:cubicBezTo>
                    <a:pt x="124460" y="2074926"/>
                    <a:pt x="0" y="1950466"/>
                    <a:pt x="0" y="1797050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728835" y="6299835"/>
            <a:ext cx="142494" cy="1130046"/>
            <a:chOff x="0" y="0"/>
            <a:chExt cx="189992" cy="1506728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89992" cy="1506728"/>
            </a:xfrm>
            <a:custGeom>
              <a:avLst/>
              <a:gdLst/>
              <a:ahLst/>
              <a:cxnLst/>
              <a:rect l="l" t="t" r="r" b="b"/>
              <a:pathLst>
                <a:path w="189992" h="1506728">
                  <a:moveTo>
                    <a:pt x="0" y="0"/>
                  </a:moveTo>
                  <a:lnTo>
                    <a:pt x="189992" y="0"/>
                  </a:lnTo>
                  <a:lnTo>
                    <a:pt x="189992" y="1506728"/>
                  </a:lnTo>
                  <a:lnTo>
                    <a:pt x="0" y="1506728"/>
                  </a:lnTo>
                  <a:close/>
                </a:path>
              </a:pathLst>
            </a:custGeom>
            <a:solidFill>
              <a:srgbClr val="81E7A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0040112" y="6364224"/>
            <a:ext cx="3332988" cy="452628"/>
            <a:chOff x="0" y="0"/>
            <a:chExt cx="4443984" cy="603504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4443984" cy="603504"/>
            </a:xfrm>
            <a:custGeom>
              <a:avLst/>
              <a:gdLst/>
              <a:ahLst/>
              <a:cxnLst/>
              <a:rect l="l" t="t" r="r" b="b"/>
              <a:pathLst>
                <a:path w="4443984" h="603504">
                  <a:moveTo>
                    <a:pt x="0" y="0"/>
                  </a:moveTo>
                  <a:lnTo>
                    <a:pt x="4443984" y="0"/>
                  </a:lnTo>
                  <a:lnTo>
                    <a:pt x="444398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480" b="-93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0" y="-19050"/>
              <a:ext cx="4443984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27"/>
                </a:lnSpc>
              </a:pPr>
              <a:r>
                <a:rPr lang="en-US" sz="219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voice_service.py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040112" y="6940296"/>
            <a:ext cx="3305556" cy="342900"/>
            <a:chOff x="0" y="0"/>
            <a:chExt cx="4407408" cy="45720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407408" cy="457200"/>
            </a:xfrm>
            <a:custGeom>
              <a:avLst/>
              <a:gdLst/>
              <a:ahLst/>
              <a:cxnLst/>
              <a:rect l="l" t="t" r="r" b="b"/>
              <a:pathLst>
                <a:path w="4407408" h="457200">
                  <a:moveTo>
                    <a:pt x="0" y="0"/>
                  </a:moveTo>
                  <a:lnTo>
                    <a:pt x="4407408" y="0"/>
                  </a:lnTo>
                  <a:lnTo>
                    <a:pt x="44074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835" b="-1378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0" y="-28575"/>
              <a:ext cx="4407408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05"/>
                </a:lnSpc>
              </a:pPr>
              <a:r>
                <a:rPr lang="en-US" sz="1754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Voz y reproducción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3884307" y="6093619"/>
            <a:ext cx="4107371" cy="1556194"/>
            <a:chOff x="0" y="0"/>
            <a:chExt cx="5476494" cy="2074926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5476494" cy="2074926"/>
            </a:xfrm>
            <a:custGeom>
              <a:avLst/>
              <a:gdLst/>
              <a:ahLst/>
              <a:cxnLst/>
              <a:rect l="l" t="t" r="r" b="b"/>
              <a:pathLst>
                <a:path w="5476494" h="2074926">
                  <a:moveTo>
                    <a:pt x="0" y="277876"/>
                  </a:moveTo>
                  <a:cubicBezTo>
                    <a:pt x="0" y="124460"/>
                    <a:pt x="124460" y="0"/>
                    <a:pt x="277876" y="0"/>
                  </a:cubicBezTo>
                  <a:lnTo>
                    <a:pt x="5198618" y="0"/>
                  </a:lnTo>
                  <a:cubicBezTo>
                    <a:pt x="5352034" y="0"/>
                    <a:pt x="5476494" y="124460"/>
                    <a:pt x="5476494" y="277876"/>
                  </a:cubicBezTo>
                  <a:lnTo>
                    <a:pt x="5476494" y="1797050"/>
                  </a:lnTo>
                  <a:cubicBezTo>
                    <a:pt x="5476494" y="1950466"/>
                    <a:pt x="5352034" y="2074926"/>
                    <a:pt x="5198618" y="2074926"/>
                  </a:cubicBezTo>
                  <a:lnTo>
                    <a:pt x="277876" y="2074926"/>
                  </a:lnTo>
                  <a:cubicBezTo>
                    <a:pt x="124460" y="2074926"/>
                    <a:pt x="0" y="1950466"/>
                    <a:pt x="0" y="1797050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4090523" y="6299835"/>
            <a:ext cx="142494" cy="1130046"/>
            <a:chOff x="0" y="0"/>
            <a:chExt cx="189992" cy="1506728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89992" cy="1506728"/>
            </a:xfrm>
            <a:custGeom>
              <a:avLst/>
              <a:gdLst/>
              <a:ahLst/>
              <a:cxnLst/>
              <a:rect l="l" t="t" r="r" b="b"/>
              <a:pathLst>
                <a:path w="189992" h="1506728">
                  <a:moveTo>
                    <a:pt x="0" y="0"/>
                  </a:moveTo>
                  <a:lnTo>
                    <a:pt x="189992" y="0"/>
                  </a:lnTo>
                  <a:lnTo>
                    <a:pt x="189992" y="1506728"/>
                  </a:lnTo>
                  <a:lnTo>
                    <a:pt x="0" y="150672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14401800" y="6364224"/>
            <a:ext cx="3332988" cy="452628"/>
            <a:chOff x="0" y="0"/>
            <a:chExt cx="4443984" cy="603504"/>
          </a:xfrm>
        </p:grpSpPr>
        <p:sp>
          <p:nvSpPr>
            <p:cNvPr id="118" name="Freeform 118"/>
            <p:cNvSpPr/>
            <p:nvPr/>
          </p:nvSpPr>
          <p:spPr>
            <a:xfrm>
              <a:off x="0" y="0"/>
              <a:ext cx="4443984" cy="603504"/>
            </a:xfrm>
            <a:custGeom>
              <a:avLst/>
              <a:gdLst/>
              <a:ahLst/>
              <a:cxnLst/>
              <a:rect l="l" t="t" r="r" b="b"/>
              <a:pathLst>
                <a:path w="4443984" h="603504">
                  <a:moveTo>
                    <a:pt x="0" y="0"/>
                  </a:moveTo>
                  <a:lnTo>
                    <a:pt x="4443984" y="0"/>
                  </a:lnTo>
                  <a:lnTo>
                    <a:pt x="4443984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3480" b="-9348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0" y="-19050"/>
              <a:ext cx="4443984" cy="6225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27"/>
                </a:lnSpc>
              </a:pPr>
              <a:r>
                <a:rPr lang="en-US" sz="219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config.py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14401800" y="6940296"/>
            <a:ext cx="3305556" cy="342900"/>
            <a:chOff x="0" y="0"/>
            <a:chExt cx="4407408" cy="457200"/>
          </a:xfrm>
        </p:grpSpPr>
        <p:sp>
          <p:nvSpPr>
            <p:cNvPr id="121" name="Freeform 121"/>
            <p:cNvSpPr/>
            <p:nvPr/>
          </p:nvSpPr>
          <p:spPr>
            <a:xfrm>
              <a:off x="0" y="0"/>
              <a:ext cx="4407408" cy="457200"/>
            </a:xfrm>
            <a:custGeom>
              <a:avLst/>
              <a:gdLst/>
              <a:ahLst/>
              <a:cxnLst/>
              <a:rect l="l" t="t" r="r" b="b"/>
              <a:pathLst>
                <a:path w="4407408" h="457200">
                  <a:moveTo>
                    <a:pt x="0" y="0"/>
                  </a:moveTo>
                  <a:lnTo>
                    <a:pt x="4407408" y="0"/>
                  </a:lnTo>
                  <a:lnTo>
                    <a:pt x="440740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835" b="-13783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0" y="-28575"/>
              <a:ext cx="4407408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05"/>
                </a:lnSpc>
              </a:pPr>
              <a:r>
                <a:rPr lang="en-US" sz="1754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Parámetros y rutas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881539" y="8096155"/>
            <a:ext cx="16547782" cy="1034986"/>
            <a:chOff x="0" y="0"/>
            <a:chExt cx="22063710" cy="1379982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22063711" cy="1379982"/>
            </a:xfrm>
            <a:custGeom>
              <a:avLst/>
              <a:gdLst/>
              <a:ahLst/>
              <a:cxnLst/>
              <a:rect l="l" t="t" r="r" b="b"/>
              <a:pathLst>
                <a:path w="22063711" h="1379982">
                  <a:moveTo>
                    <a:pt x="0" y="279781"/>
                  </a:moveTo>
                  <a:cubicBezTo>
                    <a:pt x="0" y="125222"/>
                    <a:pt x="125222" y="0"/>
                    <a:pt x="279781" y="0"/>
                  </a:cubicBezTo>
                  <a:lnTo>
                    <a:pt x="21783929" y="0"/>
                  </a:lnTo>
                  <a:cubicBezTo>
                    <a:pt x="21938362" y="0"/>
                    <a:pt x="22063711" y="125222"/>
                    <a:pt x="22063711" y="279781"/>
                  </a:cubicBezTo>
                  <a:lnTo>
                    <a:pt x="22063711" y="1100201"/>
                  </a:lnTo>
                  <a:cubicBezTo>
                    <a:pt x="22063711" y="1254633"/>
                    <a:pt x="21938489" y="1379982"/>
                    <a:pt x="21783929" y="1379982"/>
                  </a:cubicBezTo>
                  <a:lnTo>
                    <a:pt x="279781" y="1379982"/>
                  </a:lnTo>
                  <a:cubicBezTo>
                    <a:pt x="125222" y="1379982"/>
                    <a:pt x="0" y="1254760"/>
                    <a:pt x="0" y="1100201"/>
                  </a:cubicBezTo>
                  <a:close/>
                </a:path>
              </a:pathLst>
            </a:custGeom>
            <a:solidFill>
              <a:srgbClr val="0B2238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1207008" y="8366760"/>
            <a:ext cx="2112264" cy="288036"/>
            <a:chOff x="0" y="0"/>
            <a:chExt cx="2816352" cy="384048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2816352" cy="384048"/>
            </a:xfrm>
            <a:custGeom>
              <a:avLst/>
              <a:gdLst/>
              <a:ahLst/>
              <a:cxnLst/>
              <a:rect l="l" t="t" r="r" b="b"/>
              <a:pathLst>
                <a:path w="2816352" h="384048">
                  <a:moveTo>
                    <a:pt x="0" y="0"/>
                  </a:moveTo>
                  <a:lnTo>
                    <a:pt x="2816352" y="0"/>
                  </a:lnTo>
                  <a:lnTo>
                    <a:pt x="2816352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2890" b="-928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0" y="-19050"/>
              <a:ext cx="2816352" cy="403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0"/>
                </a:lnSpc>
              </a:pPr>
              <a:r>
                <a:rPr lang="en-US" sz="1650" b="1">
                  <a:solidFill>
                    <a:srgbClr val="81E7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TECNOLOGÍAS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3278124" y="8339328"/>
            <a:ext cx="13716000" cy="356616"/>
            <a:chOff x="0" y="0"/>
            <a:chExt cx="18288000" cy="475488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18288000" cy="475488"/>
            </a:xfrm>
            <a:custGeom>
              <a:avLst/>
              <a:gdLst/>
              <a:ahLst/>
              <a:cxnLst/>
              <a:rect l="l" t="t" r="r" b="b"/>
              <a:pathLst>
                <a:path w="18288000" h="475488">
                  <a:moveTo>
                    <a:pt x="0" y="0"/>
                  </a:moveTo>
                  <a:lnTo>
                    <a:pt x="18288000" y="0"/>
                  </a:lnTo>
                  <a:lnTo>
                    <a:pt x="182880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99424" b="-69942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0" y="-19050"/>
              <a:ext cx="18288000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58"/>
                </a:lnSpc>
              </a:pPr>
              <a:r>
                <a:rPr lang="en-US" sz="1964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Python  ·  TensorFlow / Keras  ·  OpenCV  ·  CustomTkinter / Tkinter  ·  Edge TTS / SAPI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6446520" y="9340596"/>
            <a:ext cx="5829300" cy="301752"/>
            <a:chOff x="0" y="0"/>
            <a:chExt cx="7772400" cy="402336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7772400" cy="402336"/>
            </a:xfrm>
            <a:custGeom>
              <a:avLst/>
              <a:gdLst/>
              <a:ahLst/>
              <a:cxnLst/>
              <a:rect l="l" t="t" r="r" b="b"/>
              <a:pathLst>
                <a:path w="7772400" h="402336">
                  <a:moveTo>
                    <a:pt x="0" y="0"/>
                  </a:moveTo>
                  <a:lnTo>
                    <a:pt x="7772400" y="0"/>
                  </a:lnTo>
                  <a:lnTo>
                    <a:pt x="77724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26415" b="-32641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0" y="-9525"/>
              <a:ext cx="7772400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ENTRENAMIENTO: TEACHABLE MACHINE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-9525"/>
            <a:ext cx="18307050" cy="94488"/>
            <a:chOff x="0" y="0"/>
            <a:chExt cx="24409400" cy="12598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25984"/>
            </a:xfrm>
            <a:custGeom>
              <a:avLst/>
              <a:gdLst/>
              <a:ahLst/>
              <a:cxnLst/>
              <a:rect l="l" t="t" r="r" b="b"/>
              <a:pathLst>
                <a:path w="24409400" h="125984">
                  <a:moveTo>
                    <a:pt x="0" y="0"/>
                  </a:moveTo>
                  <a:lnTo>
                    <a:pt x="24409400" y="0"/>
                  </a:lnTo>
                  <a:lnTo>
                    <a:pt x="24409400" y="125984"/>
                  </a:lnTo>
                  <a:lnTo>
                    <a:pt x="0" y="125984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4380" y="521208"/>
            <a:ext cx="11795760" cy="342900"/>
            <a:chOff x="0" y="0"/>
            <a:chExt cx="15727680" cy="457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727680" cy="457200"/>
            </a:xfrm>
            <a:custGeom>
              <a:avLst/>
              <a:gdLst/>
              <a:ahLst/>
              <a:cxnLst/>
              <a:rect l="l" t="t" r="r" b="b"/>
              <a:pathLst>
                <a:path w="15727680" h="457200">
                  <a:moveTo>
                    <a:pt x="0" y="0"/>
                  </a:moveTo>
                  <a:lnTo>
                    <a:pt x="15727680" y="0"/>
                  </a:lnTo>
                  <a:lnTo>
                    <a:pt x="1572768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20285" b="-6202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572768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 / ENTRENAMIENTO Y RESULTADOS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4380" y="1124712"/>
            <a:ext cx="16802100" cy="795528"/>
            <a:chOff x="0" y="0"/>
            <a:chExt cx="22402800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402800" cy="1060704"/>
            </a:xfrm>
            <a:custGeom>
              <a:avLst/>
              <a:gdLst/>
              <a:ahLst/>
              <a:cxnLst/>
              <a:rect l="l" t="t" r="r" b="b"/>
              <a:pathLst>
                <a:path w="22402800" h="1060704">
                  <a:moveTo>
                    <a:pt x="0" y="0"/>
                  </a:moveTo>
                  <a:lnTo>
                    <a:pt x="22402800" y="0"/>
                  </a:lnTo>
                  <a:lnTo>
                    <a:pt x="2240280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1537" b="-36153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2402800" cy="10797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20"/>
                </a:lnSpc>
              </a:pPr>
              <a:r>
                <a:rPr lang="en-US" sz="435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Más ejemplos para el material más difícil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8096" y="2002536"/>
            <a:ext cx="16664940" cy="466344"/>
            <a:chOff x="0" y="0"/>
            <a:chExt cx="22219920" cy="6217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219920" cy="621792"/>
            </a:xfrm>
            <a:custGeom>
              <a:avLst/>
              <a:gdLst/>
              <a:ahLst/>
              <a:cxnLst/>
              <a:rect l="l" t="t" r="r" b="b"/>
              <a:pathLst>
                <a:path w="22219920" h="621792">
                  <a:moveTo>
                    <a:pt x="0" y="0"/>
                  </a:moveTo>
                  <a:lnTo>
                    <a:pt x="22219920" y="0"/>
                  </a:lnTo>
                  <a:lnTo>
                    <a:pt x="222199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46303" b="-64630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22219920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9CB9CB"/>
                  </a:solidFill>
                  <a:latin typeface="Arial"/>
                  <a:ea typeface="Arial"/>
                  <a:cs typeface="Arial"/>
                  <a:sym typeface="Arial"/>
                </a:rPr>
                <a:t>Distribución aproximada del entrenamiento, según el artículo científico.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rot="3120">
            <a:off x="760476" y="9829610"/>
            <a:ext cx="16762486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95528" y="9930384"/>
            <a:ext cx="11658600" cy="205740"/>
            <a:chOff x="0" y="0"/>
            <a:chExt cx="15544800" cy="2743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44800" cy="274320"/>
            </a:xfrm>
            <a:custGeom>
              <a:avLst/>
              <a:gdLst/>
              <a:ahLst/>
              <a:cxnLst/>
              <a:rect l="l" t="t" r="r" b="b"/>
              <a:pathLst>
                <a:path w="15544800" h="274320">
                  <a:moveTo>
                    <a:pt x="0" y="0"/>
                  </a:moveTo>
                  <a:lnTo>
                    <a:pt x="15544800" y="0"/>
                  </a:lnTo>
                  <a:lnTo>
                    <a:pt x="15544800" y="274320"/>
                  </a:lnTo>
                  <a:lnTo>
                    <a:pt x="0" y="2743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4152" b="-105415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5544800" cy="2933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47"/>
                </a:lnSpc>
              </a:pPr>
              <a:r>
                <a:rPr lang="en-US" sz="1289" b="1">
                  <a:solidFill>
                    <a:srgbClr val="9CB9C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AGENTE INTELIGENTE DE LABORATORIO QUÍMICO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294608" y="9916668"/>
            <a:ext cx="1248156" cy="233172"/>
            <a:chOff x="0" y="0"/>
            <a:chExt cx="1664208" cy="31089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64208" cy="310896"/>
            </a:xfrm>
            <a:custGeom>
              <a:avLst/>
              <a:gdLst/>
              <a:ahLst/>
              <a:cxnLst/>
              <a:rect l="l" t="t" r="r" b="b"/>
              <a:pathLst>
                <a:path w="1664208" h="310896">
                  <a:moveTo>
                    <a:pt x="0" y="0"/>
                  </a:moveTo>
                  <a:lnTo>
                    <a:pt x="1664208" y="0"/>
                  </a:lnTo>
                  <a:lnTo>
                    <a:pt x="166420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302" b="-5430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664208" cy="329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 b="1" dirty="0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 / 05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82547" y="9962007"/>
            <a:ext cx="190500" cy="67056"/>
            <a:chOff x="0" y="0"/>
            <a:chExt cx="254000" cy="894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4556867" y="9962007"/>
            <a:ext cx="190500" cy="67056"/>
            <a:chOff x="0" y="0"/>
            <a:chExt cx="254000" cy="894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831187" y="9962007"/>
            <a:ext cx="190500" cy="67056"/>
            <a:chOff x="0" y="0"/>
            <a:chExt cx="254000" cy="8940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105507" y="9962007"/>
            <a:ext cx="190500" cy="67056"/>
            <a:chOff x="0" y="0"/>
            <a:chExt cx="254000" cy="8940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379827" y="9962007"/>
            <a:ext cx="190500" cy="67056"/>
            <a:chOff x="0" y="0"/>
            <a:chExt cx="254000" cy="894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654147" y="9962007"/>
            <a:ext cx="190500" cy="67056"/>
            <a:chOff x="0" y="0"/>
            <a:chExt cx="254000" cy="894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54000" cy="89408"/>
            </a:xfrm>
            <a:custGeom>
              <a:avLst/>
              <a:gdLst/>
              <a:ahLst/>
              <a:cxnLst/>
              <a:rect l="l" t="t" r="r" b="b"/>
              <a:pathLst>
                <a:path w="254000" h="89408">
                  <a:moveTo>
                    <a:pt x="0" y="0"/>
                  </a:moveTo>
                  <a:lnTo>
                    <a:pt x="254000" y="0"/>
                  </a:lnTo>
                  <a:lnTo>
                    <a:pt x="254000" y="89408"/>
                  </a:lnTo>
                  <a:lnTo>
                    <a:pt x="0" y="89408"/>
                  </a:lnTo>
                  <a:close/>
                </a:path>
              </a:pathLst>
            </a:custGeom>
            <a:solidFill>
              <a:srgbClr val="24516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1540" y="2743200"/>
            <a:ext cx="6035040" cy="1385316"/>
            <a:chOff x="0" y="0"/>
            <a:chExt cx="8046720" cy="184708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046720" cy="1847088"/>
            </a:xfrm>
            <a:custGeom>
              <a:avLst/>
              <a:gdLst/>
              <a:ahLst/>
              <a:cxnLst/>
              <a:rect l="l" t="t" r="r" b="b"/>
              <a:pathLst>
                <a:path w="8046720" h="1847088">
                  <a:moveTo>
                    <a:pt x="0" y="0"/>
                  </a:moveTo>
                  <a:lnTo>
                    <a:pt x="8046720" y="0"/>
                  </a:lnTo>
                  <a:lnTo>
                    <a:pt x="8046720" y="1847088"/>
                  </a:lnTo>
                  <a:lnTo>
                    <a:pt x="0" y="18470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4885" b="-3488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8046720" cy="18756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180"/>
                </a:lnSpc>
              </a:pPr>
              <a:r>
                <a:rPr lang="en-US" sz="765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8.080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8972" y="4128516"/>
            <a:ext cx="5966460" cy="493776"/>
            <a:chOff x="0" y="0"/>
            <a:chExt cx="7955280" cy="65836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955280" cy="658368"/>
            </a:xfrm>
            <a:custGeom>
              <a:avLst/>
              <a:gdLst/>
              <a:ahLst/>
              <a:cxnLst/>
              <a:rect l="l" t="t" r="r" b="b"/>
              <a:pathLst>
                <a:path w="7955280" h="658368">
                  <a:moveTo>
                    <a:pt x="0" y="0"/>
                  </a:moveTo>
                  <a:lnTo>
                    <a:pt x="7955280" y="0"/>
                  </a:lnTo>
                  <a:lnTo>
                    <a:pt x="795528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5444" b="-18544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7955280" cy="6869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imágenes aprox.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46404" y="4873371"/>
            <a:ext cx="5733288" cy="763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9CB9CB"/>
                </a:solidFill>
                <a:latin typeface="Arial"/>
                <a:ea typeface="Arial"/>
                <a:cs typeface="Arial"/>
                <a:sym typeface="Arial"/>
              </a:rPr>
              <a:t>8 clases objetivo · «Otro» no incluido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22687" y="5901595"/>
            <a:ext cx="6123622" cy="1789367"/>
            <a:chOff x="0" y="0"/>
            <a:chExt cx="8164830" cy="238582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64830" cy="2385822"/>
            </a:xfrm>
            <a:custGeom>
              <a:avLst/>
              <a:gdLst/>
              <a:ahLst/>
              <a:cxnLst/>
              <a:rect l="l" t="t" r="r" b="b"/>
              <a:pathLst>
                <a:path w="8164830" h="2385822">
                  <a:moveTo>
                    <a:pt x="0" y="258953"/>
                  </a:moveTo>
                  <a:cubicBezTo>
                    <a:pt x="0" y="115951"/>
                    <a:pt x="115951" y="0"/>
                    <a:pt x="258953" y="0"/>
                  </a:cubicBezTo>
                  <a:lnTo>
                    <a:pt x="7905877" y="0"/>
                  </a:lnTo>
                  <a:cubicBezTo>
                    <a:pt x="8048879" y="0"/>
                    <a:pt x="8164830" y="115951"/>
                    <a:pt x="8164830" y="258953"/>
                  </a:cubicBezTo>
                  <a:lnTo>
                    <a:pt x="8164830" y="2126869"/>
                  </a:lnTo>
                  <a:cubicBezTo>
                    <a:pt x="8164830" y="2269871"/>
                    <a:pt x="8048879" y="2385822"/>
                    <a:pt x="7905877" y="2385822"/>
                  </a:cubicBezTo>
                  <a:lnTo>
                    <a:pt x="258953" y="2385822"/>
                  </a:lnTo>
                  <a:cubicBezTo>
                    <a:pt x="115951" y="2385822"/>
                    <a:pt x="0" y="2269871"/>
                    <a:pt x="0" y="2126869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16736" y="6309360"/>
            <a:ext cx="5061204" cy="425196"/>
            <a:chOff x="0" y="0"/>
            <a:chExt cx="6748272" cy="5669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748272" cy="566928"/>
            </a:xfrm>
            <a:custGeom>
              <a:avLst/>
              <a:gdLst/>
              <a:ahLst/>
              <a:cxnLst/>
              <a:rect l="l" t="t" r="r" b="b"/>
              <a:pathLst>
                <a:path w="6748272" h="566928">
                  <a:moveTo>
                    <a:pt x="0" y="0"/>
                  </a:moveTo>
                  <a:lnTo>
                    <a:pt x="6748272" y="0"/>
                  </a:lnTo>
                  <a:lnTo>
                    <a:pt x="6748272" y="566928"/>
                  </a:lnTo>
                  <a:lnTo>
                    <a:pt x="0" y="5669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934" b="-18193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6748272" cy="5859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clases de vidrio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316736" y="6899148"/>
            <a:ext cx="5088636" cy="342900"/>
            <a:chOff x="0" y="0"/>
            <a:chExt cx="6784848" cy="457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784848" cy="457200"/>
            </a:xfrm>
            <a:custGeom>
              <a:avLst/>
              <a:gdLst/>
              <a:ahLst/>
              <a:cxnLst/>
              <a:rect l="l" t="t" r="r" b="b"/>
              <a:pathLst>
                <a:path w="6784848" h="457200">
                  <a:moveTo>
                    <a:pt x="0" y="0"/>
                  </a:moveTo>
                  <a:lnTo>
                    <a:pt x="6784848" y="0"/>
                  </a:lnTo>
                  <a:lnTo>
                    <a:pt x="678484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9157" b="-23915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6784848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35E3D7"/>
                  </a:solidFill>
                  <a:latin typeface="Arial"/>
                  <a:ea typeface="Arial"/>
                  <a:cs typeface="Arial"/>
                  <a:sym typeface="Arial"/>
                </a:rPr>
                <a:t>~1.220 imágenes por clase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22687" y="7931563"/>
            <a:ext cx="6123622" cy="1364170"/>
            <a:chOff x="0" y="0"/>
            <a:chExt cx="8164830" cy="181889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164830" cy="1818894"/>
            </a:xfrm>
            <a:custGeom>
              <a:avLst/>
              <a:gdLst/>
              <a:ahLst/>
              <a:cxnLst/>
              <a:rect l="l" t="t" r="r" b="b"/>
              <a:pathLst>
                <a:path w="8164830" h="1818894">
                  <a:moveTo>
                    <a:pt x="0" y="259842"/>
                  </a:moveTo>
                  <a:cubicBezTo>
                    <a:pt x="0" y="116332"/>
                    <a:pt x="116332" y="0"/>
                    <a:pt x="259842" y="0"/>
                  </a:cubicBezTo>
                  <a:lnTo>
                    <a:pt x="7904988" y="0"/>
                  </a:lnTo>
                  <a:cubicBezTo>
                    <a:pt x="8048498" y="0"/>
                    <a:pt x="8164830" y="116332"/>
                    <a:pt x="8164830" y="259842"/>
                  </a:cubicBezTo>
                  <a:lnTo>
                    <a:pt x="8164830" y="1559052"/>
                  </a:lnTo>
                  <a:cubicBezTo>
                    <a:pt x="8164830" y="1702562"/>
                    <a:pt x="8048498" y="1818894"/>
                    <a:pt x="7904988" y="1818894"/>
                  </a:cubicBezTo>
                  <a:lnTo>
                    <a:pt x="259842" y="1818894"/>
                  </a:lnTo>
                  <a:cubicBezTo>
                    <a:pt x="116332" y="1818894"/>
                    <a:pt x="0" y="1702562"/>
                    <a:pt x="0" y="1559052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16736" y="8174736"/>
            <a:ext cx="5061204" cy="384048"/>
            <a:chOff x="0" y="0"/>
            <a:chExt cx="6748272" cy="5120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748272" cy="512064"/>
            </a:xfrm>
            <a:custGeom>
              <a:avLst/>
              <a:gdLst/>
              <a:ahLst/>
              <a:cxnLst/>
              <a:rect l="l" t="t" r="r" b="b"/>
              <a:pathLst>
                <a:path w="6748272" h="512064">
                  <a:moveTo>
                    <a:pt x="0" y="0"/>
                  </a:moveTo>
                  <a:lnTo>
                    <a:pt x="6748272" y="0"/>
                  </a:lnTo>
                  <a:lnTo>
                    <a:pt x="674827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6784" b="-2067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6748272" cy="521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0"/>
                </a:lnSpc>
              </a:pPr>
              <a:r>
                <a:rPr lang="en-US" sz="2550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 productos químicos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16736" y="8654796"/>
            <a:ext cx="5088636" cy="329184"/>
            <a:chOff x="0" y="0"/>
            <a:chExt cx="6784848" cy="43891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784848" cy="438912"/>
            </a:xfrm>
            <a:custGeom>
              <a:avLst/>
              <a:gdLst/>
              <a:ahLst/>
              <a:cxnLst/>
              <a:rect l="l" t="t" r="r" b="b"/>
              <a:pathLst>
                <a:path w="6784848" h="438912">
                  <a:moveTo>
                    <a:pt x="0" y="0"/>
                  </a:moveTo>
                  <a:lnTo>
                    <a:pt x="6784848" y="0"/>
                  </a:lnTo>
                  <a:lnTo>
                    <a:pt x="678484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51206" b="-2512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6784848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4BA4E5"/>
                  </a:solidFill>
                  <a:latin typeface="Arial"/>
                  <a:ea typeface="Arial"/>
                  <a:cs typeface="Arial"/>
                  <a:sym typeface="Arial"/>
                </a:rPr>
                <a:t>~800 imágenes por clase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437787" y="2678335"/>
            <a:ext cx="9909238" cy="6631114"/>
            <a:chOff x="0" y="0"/>
            <a:chExt cx="13212318" cy="8841486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3212190" cy="8841486"/>
            </a:xfrm>
            <a:custGeom>
              <a:avLst/>
              <a:gdLst/>
              <a:ahLst/>
              <a:cxnLst/>
              <a:rect l="l" t="t" r="r" b="b"/>
              <a:pathLst>
                <a:path w="13212190" h="8841486">
                  <a:moveTo>
                    <a:pt x="0" y="311785"/>
                  </a:moveTo>
                  <a:cubicBezTo>
                    <a:pt x="0" y="139573"/>
                    <a:pt x="139573" y="0"/>
                    <a:pt x="311785" y="0"/>
                  </a:cubicBezTo>
                  <a:lnTo>
                    <a:pt x="12900406" y="0"/>
                  </a:lnTo>
                  <a:cubicBezTo>
                    <a:pt x="13072618" y="0"/>
                    <a:pt x="13212190" y="139573"/>
                    <a:pt x="13212190" y="311785"/>
                  </a:cubicBezTo>
                  <a:lnTo>
                    <a:pt x="13212190" y="8529701"/>
                  </a:lnTo>
                  <a:cubicBezTo>
                    <a:pt x="13212190" y="8701913"/>
                    <a:pt x="13072618" y="8841486"/>
                    <a:pt x="12900406" y="8841486"/>
                  </a:cubicBezTo>
                  <a:lnTo>
                    <a:pt x="311785" y="8841486"/>
                  </a:lnTo>
                  <a:cubicBezTo>
                    <a:pt x="139573" y="8841486"/>
                    <a:pt x="0" y="8701913"/>
                    <a:pt x="0" y="8529701"/>
                  </a:cubicBezTo>
                  <a:close/>
                </a:path>
              </a:pathLst>
            </a:custGeom>
            <a:solidFill>
              <a:srgbClr val="0E2B44"/>
            </a:solidFill>
            <a:ln w="20003" cap="sq">
              <a:solidFill>
                <a:srgbClr val="24516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927848" y="3140964"/>
            <a:ext cx="8778240" cy="342900"/>
            <a:chOff x="0" y="0"/>
            <a:chExt cx="11704320" cy="45720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704320" cy="457200"/>
            </a:xfrm>
            <a:custGeom>
              <a:avLst/>
              <a:gdLst/>
              <a:ahLst/>
              <a:cxnLst/>
              <a:rect l="l" t="t" r="r" b="b"/>
              <a:pathLst>
                <a:path w="11704320" h="457200">
                  <a:moveTo>
                    <a:pt x="0" y="0"/>
                  </a:moveTo>
                  <a:lnTo>
                    <a:pt x="11704320" y="0"/>
                  </a:lnTo>
                  <a:lnTo>
                    <a:pt x="1170432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48816" b="-44881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11704320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6"/>
                </a:lnSpc>
              </a:pPr>
              <a:r>
                <a:rPr lang="en-US" sz="1530" b="1" spc="270">
                  <a:solidFill>
                    <a:srgbClr val="81E7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EVOLUCIÓN POR CLASE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914132" y="3950208"/>
            <a:ext cx="4526280" cy="438912"/>
            <a:chOff x="0" y="0"/>
            <a:chExt cx="6035040" cy="58521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035040" cy="585216"/>
            </a:xfrm>
            <a:custGeom>
              <a:avLst/>
              <a:gdLst/>
              <a:ahLst/>
              <a:cxnLst/>
              <a:rect l="l" t="t" r="r" b="b"/>
              <a:pathLst>
                <a:path w="6035040" h="585216">
                  <a:moveTo>
                    <a:pt x="0" y="0"/>
                  </a:moveTo>
                  <a:lnTo>
                    <a:pt x="6035040" y="0"/>
                  </a:lnTo>
                  <a:lnTo>
                    <a:pt x="60350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0939" b="-1509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6035040" cy="5947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62"/>
                </a:lnSpc>
              </a:pPr>
              <a:r>
                <a:rPr lang="en-US" sz="238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Materiales de vidrio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618720" y="3922776"/>
            <a:ext cx="4087368" cy="493776"/>
            <a:chOff x="0" y="0"/>
            <a:chExt cx="5449824" cy="65836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5449824" cy="658368"/>
            </a:xfrm>
            <a:custGeom>
              <a:avLst/>
              <a:gdLst/>
              <a:ahLst/>
              <a:cxnLst/>
              <a:rect l="l" t="t" r="r" b="b"/>
              <a:pathLst>
                <a:path w="5449824" h="658368">
                  <a:moveTo>
                    <a:pt x="0" y="0"/>
                  </a:moveTo>
                  <a:lnTo>
                    <a:pt x="5449824" y="0"/>
                  </a:lnTo>
                  <a:lnTo>
                    <a:pt x="5449824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1292" b="-11129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5449824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600"/>
                </a:lnSpc>
              </a:pPr>
              <a:r>
                <a:rPr lang="en-US" sz="3000" b="1">
                  <a:solidFill>
                    <a:srgbClr val="35E3D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800 → 1.220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945755" y="4571619"/>
            <a:ext cx="8838438" cy="636270"/>
            <a:chOff x="0" y="0"/>
            <a:chExt cx="11784584" cy="84836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784584" cy="848360"/>
            </a:xfrm>
            <a:custGeom>
              <a:avLst/>
              <a:gdLst/>
              <a:ahLst/>
              <a:cxnLst/>
              <a:rect l="l" t="t" r="r" b="b"/>
              <a:pathLst>
                <a:path w="11784584" h="848360">
                  <a:moveTo>
                    <a:pt x="0" y="94234"/>
                  </a:moveTo>
                  <a:cubicBezTo>
                    <a:pt x="0" y="42164"/>
                    <a:pt x="42164" y="0"/>
                    <a:pt x="94234" y="0"/>
                  </a:cubicBezTo>
                  <a:lnTo>
                    <a:pt x="11690350" y="0"/>
                  </a:lnTo>
                  <a:cubicBezTo>
                    <a:pt x="11742420" y="0"/>
                    <a:pt x="11784584" y="42164"/>
                    <a:pt x="11784584" y="94234"/>
                  </a:cubicBezTo>
                  <a:lnTo>
                    <a:pt x="11784584" y="754126"/>
                  </a:lnTo>
                  <a:cubicBezTo>
                    <a:pt x="11784584" y="806196"/>
                    <a:pt x="11742420" y="848360"/>
                    <a:pt x="11690350" y="848360"/>
                  </a:cubicBezTo>
                  <a:lnTo>
                    <a:pt x="94234" y="848360"/>
                  </a:lnTo>
                  <a:cubicBezTo>
                    <a:pt x="42164" y="848360"/>
                    <a:pt x="0" y="806196"/>
                    <a:pt x="0" y="754126"/>
                  </a:cubicBezTo>
                  <a:close/>
                </a:path>
              </a:pathLst>
            </a:custGeom>
            <a:solidFill>
              <a:srgbClr val="0B223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945755" y="4571619"/>
            <a:ext cx="5807202" cy="636270"/>
            <a:chOff x="0" y="0"/>
            <a:chExt cx="7742936" cy="84836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742936" cy="848360"/>
            </a:xfrm>
            <a:custGeom>
              <a:avLst/>
              <a:gdLst/>
              <a:ahLst/>
              <a:cxnLst/>
              <a:rect l="l" t="t" r="r" b="b"/>
              <a:pathLst>
                <a:path w="7742936" h="848360">
                  <a:moveTo>
                    <a:pt x="0" y="94234"/>
                  </a:moveTo>
                  <a:cubicBezTo>
                    <a:pt x="0" y="42164"/>
                    <a:pt x="42164" y="0"/>
                    <a:pt x="94234" y="0"/>
                  </a:cubicBezTo>
                  <a:lnTo>
                    <a:pt x="7648702" y="0"/>
                  </a:lnTo>
                  <a:cubicBezTo>
                    <a:pt x="7700772" y="0"/>
                    <a:pt x="7742936" y="42164"/>
                    <a:pt x="7742936" y="94234"/>
                  </a:cubicBezTo>
                  <a:lnTo>
                    <a:pt x="7742936" y="754126"/>
                  </a:lnTo>
                  <a:cubicBezTo>
                    <a:pt x="7742936" y="806196"/>
                    <a:pt x="7700772" y="848360"/>
                    <a:pt x="7648702" y="848360"/>
                  </a:cubicBezTo>
                  <a:lnTo>
                    <a:pt x="94234" y="848360"/>
                  </a:lnTo>
                  <a:cubicBezTo>
                    <a:pt x="42164" y="848360"/>
                    <a:pt x="0" y="806196"/>
                    <a:pt x="0" y="754126"/>
                  </a:cubicBezTo>
                  <a:close/>
                </a:path>
              </a:pathLst>
            </a:custGeom>
            <a:solidFill>
              <a:srgbClr val="4BA4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3733907" y="4571619"/>
            <a:ext cx="3050286" cy="636270"/>
            <a:chOff x="0" y="0"/>
            <a:chExt cx="4067048" cy="84836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4067048" cy="848360"/>
            </a:xfrm>
            <a:custGeom>
              <a:avLst/>
              <a:gdLst/>
              <a:ahLst/>
              <a:cxnLst/>
              <a:rect l="l" t="t" r="r" b="b"/>
              <a:pathLst>
                <a:path w="4067048" h="848360">
                  <a:moveTo>
                    <a:pt x="0" y="94234"/>
                  </a:moveTo>
                  <a:cubicBezTo>
                    <a:pt x="0" y="42164"/>
                    <a:pt x="42164" y="0"/>
                    <a:pt x="94234" y="0"/>
                  </a:cubicBezTo>
                  <a:lnTo>
                    <a:pt x="3972814" y="0"/>
                  </a:lnTo>
                  <a:cubicBezTo>
                    <a:pt x="4024884" y="0"/>
                    <a:pt x="4067048" y="42164"/>
                    <a:pt x="4067048" y="94234"/>
                  </a:cubicBezTo>
                  <a:lnTo>
                    <a:pt x="4067048" y="754126"/>
                  </a:lnTo>
                  <a:cubicBezTo>
                    <a:pt x="4067048" y="806196"/>
                    <a:pt x="4024884" y="848360"/>
                    <a:pt x="3972814" y="848360"/>
                  </a:cubicBezTo>
                  <a:lnTo>
                    <a:pt x="94234" y="848360"/>
                  </a:lnTo>
                  <a:cubicBezTo>
                    <a:pt x="42164" y="848360"/>
                    <a:pt x="0" y="806196"/>
                    <a:pt x="0" y="754126"/>
                  </a:cubicBezTo>
                  <a:close/>
                </a:path>
              </a:pathLst>
            </a:custGeom>
            <a:solidFill>
              <a:srgbClr val="35E3D7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927848" y="5335524"/>
            <a:ext cx="8654796" cy="397764"/>
            <a:chOff x="0" y="0"/>
            <a:chExt cx="11539728" cy="530352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1539728" cy="530352"/>
            </a:xfrm>
            <a:custGeom>
              <a:avLst/>
              <a:gdLst/>
              <a:ahLst/>
              <a:cxnLst/>
              <a:rect l="l" t="t" r="r" b="b"/>
              <a:pathLst>
                <a:path w="11539728" h="530352">
                  <a:moveTo>
                    <a:pt x="0" y="0"/>
                  </a:moveTo>
                  <a:lnTo>
                    <a:pt x="11539728" y="0"/>
                  </a:lnTo>
                  <a:lnTo>
                    <a:pt x="11539728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73967" b="-37396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11539728" cy="5494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+420 imágenes/clase · +52,5 %</a:t>
              </a:r>
            </a:p>
          </p:txBody>
        </p:sp>
      </p:grpSp>
      <p:sp>
        <p:nvSpPr>
          <p:cNvPr id="75" name="AutoShape 75"/>
          <p:cNvSpPr/>
          <p:nvPr/>
        </p:nvSpPr>
        <p:spPr>
          <a:xfrm rot="7380">
            <a:off x="7959461" y="6085142"/>
            <a:ext cx="8852173" cy="0"/>
          </a:xfrm>
          <a:prstGeom prst="line">
            <a:avLst/>
          </a:prstGeom>
          <a:ln w="9525" cap="rnd">
            <a:solidFill>
              <a:srgbClr val="24516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6" name="Group 76"/>
          <p:cNvGrpSpPr/>
          <p:nvPr/>
        </p:nvGrpSpPr>
        <p:grpSpPr>
          <a:xfrm>
            <a:off x="7914132" y="6597396"/>
            <a:ext cx="4992624" cy="452628"/>
            <a:chOff x="0" y="0"/>
            <a:chExt cx="6656832" cy="60350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656832" cy="603504"/>
            </a:xfrm>
            <a:custGeom>
              <a:avLst/>
              <a:gdLst/>
              <a:ahLst/>
              <a:cxnLst/>
              <a:rect l="l" t="t" r="r" b="b"/>
              <a:pathLst>
                <a:path w="6656832" h="603504">
                  <a:moveTo>
                    <a:pt x="0" y="0"/>
                  </a:moveTo>
                  <a:lnTo>
                    <a:pt x="6656832" y="0"/>
                  </a:lnTo>
                  <a:lnTo>
                    <a:pt x="6656832" y="603504"/>
                  </a:lnTo>
                  <a:lnTo>
                    <a:pt x="0" y="60350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4925" b="-164925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6656832" cy="613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62"/>
                </a:lnSpc>
              </a:pPr>
              <a:r>
                <a:rPr lang="en-US" sz="2385" b="1">
                  <a:solidFill>
                    <a:srgbClr val="F4FB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Productos químicos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2755880" y="6556248"/>
            <a:ext cx="3936492" cy="493776"/>
            <a:chOff x="0" y="0"/>
            <a:chExt cx="5248656" cy="65836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5248656" cy="658368"/>
            </a:xfrm>
            <a:custGeom>
              <a:avLst/>
              <a:gdLst/>
              <a:ahLst/>
              <a:cxnLst/>
              <a:rect l="l" t="t" r="r" b="b"/>
              <a:pathLst>
                <a:path w="5248656" h="658368">
                  <a:moveTo>
                    <a:pt x="0" y="0"/>
                  </a:moveTo>
                  <a:lnTo>
                    <a:pt x="5248656" y="0"/>
                  </a:lnTo>
                  <a:lnTo>
                    <a:pt x="524865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5339" b="-1053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5248656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600"/>
                </a:lnSpc>
              </a:pPr>
              <a:r>
                <a:rPr lang="en-US" sz="3000" b="1">
                  <a:solidFill>
                    <a:srgbClr val="4BA4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800 → 800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945755" y="7232523"/>
            <a:ext cx="8838438" cy="636270"/>
            <a:chOff x="0" y="0"/>
            <a:chExt cx="11784584" cy="84836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1784584" cy="848360"/>
            </a:xfrm>
            <a:custGeom>
              <a:avLst/>
              <a:gdLst/>
              <a:ahLst/>
              <a:cxnLst/>
              <a:rect l="l" t="t" r="r" b="b"/>
              <a:pathLst>
                <a:path w="11784584" h="848360">
                  <a:moveTo>
                    <a:pt x="0" y="94234"/>
                  </a:moveTo>
                  <a:cubicBezTo>
                    <a:pt x="0" y="42164"/>
                    <a:pt x="42164" y="0"/>
                    <a:pt x="94234" y="0"/>
                  </a:cubicBezTo>
                  <a:lnTo>
                    <a:pt x="11690350" y="0"/>
                  </a:lnTo>
                  <a:cubicBezTo>
                    <a:pt x="11742420" y="0"/>
                    <a:pt x="11784584" y="42164"/>
                    <a:pt x="11784584" y="94234"/>
                  </a:cubicBezTo>
                  <a:lnTo>
                    <a:pt x="11784584" y="754126"/>
                  </a:lnTo>
                  <a:cubicBezTo>
                    <a:pt x="11784584" y="806196"/>
                    <a:pt x="11742420" y="848360"/>
                    <a:pt x="11690350" y="848360"/>
                  </a:cubicBezTo>
                  <a:lnTo>
                    <a:pt x="94234" y="848360"/>
                  </a:lnTo>
                  <a:cubicBezTo>
                    <a:pt x="42164" y="848360"/>
                    <a:pt x="0" y="806196"/>
                    <a:pt x="0" y="754126"/>
                  </a:cubicBezTo>
                  <a:close/>
                </a:path>
              </a:pathLst>
            </a:custGeom>
            <a:solidFill>
              <a:srgbClr val="0B2238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7945755" y="7232523"/>
            <a:ext cx="5807202" cy="636270"/>
            <a:chOff x="0" y="0"/>
            <a:chExt cx="7742936" cy="84836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742936" cy="848360"/>
            </a:xfrm>
            <a:custGeom>
              <a:avLst/>
              <a:gdLst/>
              <a:ahLst/>
              <a:cxnLst/>
              <a:rect l="l" t="t" r="r" b="b"/>
              <a:pathLst>
                <a:path w="7742936" h="848360">
                  <a:moveTo>
                    <a:pt x="0" y="94234"/>
                  </a:moveTo>
                  <a:cubicBezTo>
                    <a:pt x="0" y="42164"/>
                    <a:pt x="42164" y="0"/>
                    <a:pt x="94234" y="0"/>
                  </a:cubicBezTo>
                  <a:lnTo>
                    <a:pt x="7648702" y="0"/>
                  </a:lnTo>
                  <a:cubicBezTo>
                    <a:pt x="7700772" y="0"/>
                    <a:pt x="7742936" y="42164"/>
                    <a:pt x="7742936" y="94234"/>
                  </a:cubicBezTo>
                  <a:lnTo>
                    <a:pt x="7742936" y="754126"/>
                  </a:lnTo>
                  <a:cubicBezTo>
                    <a:pt x="7742936" y="806196"/>
                    <a:pt x="7700772" y="848360"/>
                    <a:pt x="7648702" y="848360"/>
                  </a:cubicBezTo>
                  <a:lnTo>
                    <a:pt x="94234" y="848360"/>
                  </a:lnTo>
                  <a:cubicBezTo>
                    <a:pt x="42164" y="848360"/>
                    <a:pt x="0" y="806196"/>
                    <a:pt x="0" y="754126"/>
                  </a:cubicBezTo>
                  <a:close/>
                </a:path>
              </a:pathLst>
            </a:custGeom>
            <a:solidFill>
              <a:srgbClr val="4BA4E5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927848" y="8051292"/>
            <a:ext cx="8407908" cy="342900"/>
            <a:chOff x="0" y="0"/>
            <a:chExt cx="11210544" cy="45720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1210544" cy="457200"/>
            </a:xfrm>
            <a:custGeom>
              <a:avLst/>
              <a:gdLst/>
              <a:ahLst/>
              <a:cxnLst/>
              <a:rect l="l" t="t" r="r" b="b"/>
              <a:pathLst>
                <a:path w="11210544" h="457200">
                  <a:moveTo>
                    <a:pt x="0" y="0"/>
                  </a:moveTo>
                  <a:lnTo>
                    <a:pt x="11210544" y="0"/>
                  </a:lnTo>
                  <a:lnTo>
                    <a:pt x="1121054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7773" b="-42777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11210544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B6D8E5"/>
                  </a:solidFill>
                  <a:latin typeface="Arial"/>
                  <a:ea typeface="Arial"/>
                  <a:cs typeface="Arial"/>
                  <a:sym typeface="Arial"/>
                </a:rPr>
                <a:t>~800 imágenes por cada clase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955280" y="8723376"/>
            <a:ext cx="8503920" cy="411480"/>
            <a:chOff x="0" y="0"/>
            <a:chExt cx="11338560" cy="548640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1338560" cy="548640"/>
            </a:xfrm>
            <a:custGeom>
              <a:avLst/>
              <a:gdLst/>
              <a:ahLst/>
              <a:cxnLst/>
              <a:rect l="l" t="t" r="r" b="b"/>
              <a:pathLst>
                <a:path w="11338560" h="548640">
                  <a:moveTo>
                    <a:pt x="0" y="0"/>
                  </a:moveTo>
                  <a:lnTo>
                    <a:pt x="11338560" y="0"/>
                  </a:lnTo>
                  <a:lnTo>
                    <a:pt x="11338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2690" b="-35269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0" y="-19050"/>
              <a:ext cx="1133856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04"/>
                </a:lnSpc>
              </a:pPr>
              <a:r>
                <a:rPr lang="en-US" sz="1920" b="1">
                  <a:solidFill>
                    <a:srgbClr val="81E7A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Más contraste y fondos oscuros para el vidrio transparente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</Words>
  <Application>Microsoft Office PowerPoint</Application>
  <PresentationFormat>Personalizado</PresentationFormat>
  <Paragraphs>112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 Bold</vt:lpstr>
      <vt:lpstr>Calibri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Coco Daniel Vega Barriga</cp:lastModifiedBy>
  <cp:revision>2</cp:revision>
  <dcterms:created xsi:type="dcterms:W3CDTF">2006-08-16T00:00:00Z</dcterms:created>
  <dcterms:modified xsi:type="dcterms:W3CDTF">2026-10-17T18:41:11Z</dcterms:modified>
  <dc:identifier>DAHYOYlBfKc</dc:identifier>
</cp:coreProperties>
</file>